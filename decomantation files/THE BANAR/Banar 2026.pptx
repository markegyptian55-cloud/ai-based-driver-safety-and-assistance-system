
<file path=[Content_Types].xml><?xml version="1.0" encoding="utf-8"?>
<Types xmlns="http://schemas.openxmlformats.org/package/2006/content-types">
  <Default Extension="png" ContentType="image/png"/>
  <Default Extension="jfif" ContentType="image/jpeg"/>
  <Default Extension="bmp" ContentType="image/bmp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724475" cy="47456725"/>
  <p:notesSz cx="6858000" cy="9144000"/>
  <p:embeddedFontLst>
    <p:embeddedFont>
      <p:font typeface="Inter" panose="020B0604020202020204" charset="0"/>
      <p:regular r:id="rId4"/>
    </p:embeddedFont>
    <p:embeddedFont>
      <p:font typeface="Roboto" panose="020B0604020202020204" charset="0"/>
      <p:regular r:id="rId5"/>
    </p:embeddedFont>
    <p:embeddedFont>
      <p:font typeface="Titillium Web" panose="020B060402020202020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948" userDrawn="1">
          <p15:clr>
            <a:srgbClr val="A4A3A4"/>
          </p15:clr>
        </p15:guide>
        <p15:guide id="2" pos="967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dFYQDuC3v0tfi5ST5GQlQPtR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50F"/>
    <a:srgbClr val="030905"/>
    <a:srgbClr val="102B76"/>
    <a:srgbClr val="FFFFFF"/>
    <a:srgbClr val="5CC6D8"/>
    <a:srgbClr val="1D4ED8"/>
    <a:srgbClr val="238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073" autoAdjust="0"/>
    <p:restoredTop sz="95084" autoAdjust="0"/>
  </p:normalViewPr>
  <p:slideViewPr>
    <p:cSldViewPr snapToGrid="0">
      <p:cViewPr varScale="1">
        <p:scale>
          <a:sx n="22" d="100"/>
          <a:sy n="22" d="100"/>
        </p:scale>
        <p:origin x="5376" y="174"/>
      </p:cViewPr>
      <p:guideLst>
        <p:guide orient="horz" pos="14948"/>
        <p:guide pos="9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319338" y="685800"/>
            <a:ext cx="221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29443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9338" y="685800"/>
            <a:ext cx="221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912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2112311" y="12633169"/>
            <a:ext cx="26499860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96312" y="11831245"/>
            <a:ext cx="26499860" cy="1974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716"/>
              <a:buFont typeface="Arial"/>
              <a:buNone/>
              <a:defRPr sz="1478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96312" y="31758680"/>
            <a:ext cx="26499860" cy="1038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5911">
                <a:solidFill>
                  <a:srgbClr val="888888"/>
                </a:solidFill>
              </a:defRPr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5905"/>
              <a:buNone/>
              <a:defRPr sz="4926">
                <a:solidFill>
                  <a:srgbClr val="888888"/>
                </a:solidFill>
              </a:defRPr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5315"/>
              <a:buNone/>
              <a:defRPr sz="4435">
                <a:solidFill>
                  <a:srgbClr val="888888"/>
                </a:solidFill>
              </a:defRPr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112315" y="12633169"/>
            <a:ext cx="13057902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554270" y="12633169"/>
            <a:ext cx="13057902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116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116319" y="11633494"/>
            <a:ext cx="12997891" cy="57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5911" b="1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None/>
              <a:defRPr sz="4926" b="1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4435" b="1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116319" y="17334900"/>
            <a:ext cx="12997891" cy="2549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554279" y="11633494"/>
            <a:ext cx="13061906" cy="57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5911" b="1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None/>
              <a:defRPr sz="4926" b="1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4435" b="1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554279" y="17334900"/>
            <a:ext cx="13061906" cy="2549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116329" y="3163783"/>
            <a:ext cx="9909444" cy="110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Arial"/>
              <a:buNone/>
              <a:defRPr sz="78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061915" y="6832913"/>
            <a:ext cx="15554265" cy="3372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691369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9449"/>
              <a:buChar char="•"/>
              <a:defRPr sz="7884"/>
            </a:lvl1pPr>
            <a:lvl2pPr marL="762947" lvl="1" indent="-628797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8268"/>
              <a:buChar char="•"/>
              <a:defRPr sz="6897"/>
            </a:lvl2pPr>
            <a:lvl3pPr marL="1144424" lvl="2" indent="-566173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5911"/>
            </a:lvl3pPr>
            <a:lvl4pPr marL="1525896" lvl="3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4pPr>
            <a:lvl5pPr marL="1907370" lvl="4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5pPr>
            <a:lvl6pPr marL="2150166" lvl="5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6pPr>
            <a:lvl7pPr marL="2150166" lvl="6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7pPr>
            <a:lvl8pPr marL="2150166" lvl="7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8pPr>
            <a:lvl9pPr marL="2150166" lvl="8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116329" y="14237037"/>
            <a:ext cx="9909444" cy="2637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3448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2955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116329" y="3163783"/>
            <a:ext cx="9909444" cy="110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Arial"/>
              <a:buNone/>
              <a:defRPr sz="78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061915" y="6832913"/>
            <a:ext cx="15554265" cy="3372503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116329" y="14237037"/>
            <a:ext cx="9909444" cy="2637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3448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2955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06828" y="14438660"/>
            <a:ext cx="30110856" cy="2649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5191006" y="19322854"/>
            <a:ext cx="40217381" cy="66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8250955" y="12889915"/>
            <a:ext cx="40217381" cy="194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2"/>
              <a:buFont typeface="Arial"/>
              <a:buNone/>
              <a:defRPr sz="12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112311" y="12633169"/>
            <a:ext cx="26499860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53618" algn="l" rtl="0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8268"/>
              <a:buFont typeface="Arial"/>
              <a:buChar char="•"/>
              <a:defRPr sz="8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8561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sz="708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3567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5"/>
              <a:buFont typeface="Arial"/>
              <a:buChar char="•"/>
              <a:defRPr sz="590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jfif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bmp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hero-card">
            <a:extLst>
              <a:ext uri="{FF2B5EF4-FFF2-40B4-BE49-F238E27FC236}">
                <a16:creationId xmlns:a16="http://schemas.microsoft.com/office/drawing/2014/main" id="{4B421568-EAAD-4589-9266-443936F138F2}"/>
              </a:ext>
            </a:extLst>
          </p:cNvPr>
          <p:cNvSpPr/>
          <p:nvPr/>
        </p:nvSpPr>
        <p:spPr>
          <a:xfrm>
            <a:off x="18723144" y="40304800"/>
            <a:ext cx="4183533" cy="6846531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8" name="hero-card">
            <a:extLst>
              <a:ext uri="{FF2B5EF4-FFF2-40B4-BE49-F238E27FC236}">
                <a16:creationId xmlns:a16="http://schemas.microsoft.com/office/drawing/2014/main" id="{1D002C47-4F84-4C89-B7A9-4EEB3D6A6464}"/>
              </a:ext>
            </a:extLst>
          </p:cNvPr>
          <p:cNvSpPr/>
          <p:nvPr/>
        </p:nvSpPr>
        <p:spPr>
          <a:xfrm>
            <a:off x="8170716" y="36441060"/>
            <a:ext cx="14832513" cy="2824135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95" name="hero-card">
            <a:extLst>
              <a:ext uri="{FF2B5EF4-FFF2-40B4-BE49-F238E27FC236}">
                <a16:creationId xmlns:a16="http://schemas.microsoft.com/office/drawing/2014/main" id="{7021762A-E0EA-42DF-9C52-080B372DD627}"/>
              </a:ext>
            </a:extLst>
          </p:cNvPr>
          <p:cNvSpPr/>
          <p:nvPr/>
        </p:nvSpPr>
        <p:spPr>
          <a:xfrm>
            <a:off x="7879795" y="26044409"/>
            <a:ext cx="14793441" cy="9259418"/>
          </a:xfrm>
          <a:prstGeom prst="roundRect">
            <a:avLst>
              <a:gd name="adj" fmla="val 6128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86" name="hero-card">
            <a:extLst>
              <a:ext uri="{FF2B5EF4-FFF2-40B4-BE49-F238E27FC236}">
                <a16:creationId xmlns:a16="http://schemas.microsoft.com/office/drawing/2014/main" id="{B721C8EC-D44C-43EF-A3DF-73F0CF48BA6C}"/>
              </a:ext>
            </a:extLst>
          </p:cNvPr>
          <p:cNvSpPr/>
          <p:nvPr/>
        </p:nvSpPr>
        <p:spPr>
          <a:xfrm>
            <a:off x="23096480" y="43926434"/>
            <a:ext cx="7372868" cy="3187957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88" name="hero-card">
            <a:extLst>
              <a:ext uri="{FF2B5EF4-FFF2-40B4-BE49-F238E27FC236}">
                <a16:creationId xmlns:a16="http://schemas.microsoft.com/office/drawing/2014/main" id="{2F8CBAC5-E2CE-4986-9A75-7AD6A32F64B1}"/>
              </a:ext>
            </a:extLst>
          </p:cNvPr>
          <p:cNvSpPr/>
          <p:nvPr/>
        </p:nvSpPr>
        <p:spPr>
          <a:xfrm>
            <a:off x="23225195" y="40269045"/>
            <a:ext cx="7372868" cy="2464335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85" name="hero-card">
            <a:extLst>
              <a:ext uri="{FF2B5EF4-FFF2-40B4-BE49-F238E27FC236}">
                <a16:creationId xmlns:a16="http://schemas.microsoft.com/office/drawing/2014/main" id="{D207DBF8-E8BE-42EB-BC5B-F38CB1EA4A2E}"/>
              </a:ext>
            </a:extLst>
          </p:cNvPr>
          <p:cNvSpPr/>
          <p:nvPr/>
        </p:nvSpPr>
        <p:spPr>
          <a:xfrm>
            <a:off x="23110915" y="25919063"/>
            <a:ext cx="7372868" cy="9389786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59" name="hero-card">
            <a:extLst>
              <a:ext uri="{FF2B5EF4-FFF2-40B4-BE49-F238E27FC236}">
                <a16:creationId xmlns:a16="http://schemas.microsoft.com/office/drawing/2014/main" id="{064A28BB-4B32-4A21-BA2C-A8ADC70A7BC4}"/>
              </a:ext>
            </a:extLst>
          </p:cNvPr>
          <p:cNvSpPr/>
          <p:nvPr/>
        </p:nvSpPr>
        <p:spPr>
          <a:xfrm>
            <a:off x="7828608" y="20322614"/>
            <a:ext cx="14942902" cy="4452917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60" name="method-line-one">
            <a:extLst>
              <a:ext uri="{FF2B5EF4-FFF2-40B4-BE49-F238E27FC236}">
                <a16:creationId xmlns:a16="http://schemas.microsoft.com/office/drawing/2014/main" id="{A3DDA849-EC62-41DA-B3F3-12CD811D6F8E}"/>
              </a:ext>
            </a:extLst>
          </p:cNvPr>
          <p:cNvSpPr/>
          <p:nvPr/>
        </p:nvSpPr>
        <p:spPr>
          <a:xfrm>
            <a:off x="9486695" y="22308643"/>
            <a:ext cx="4620310" cy="0"/>
          </a:xfrm>
          <a:prstGeom prst="line">
            <a:avLst/>
          </a:prstGeom>
          <a:ln w="381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7" name="hero-card">
            <a:extLst>
              <a:ext uri="{FF2B5EF4-FFF2-40B4-BE49-F238E27FC236}">
                <a16:creationId xmlns:a16="http://schemas.microsoft.com/office/drawing/2014/main" id="{5806B0F1-1056-406F-8B09-AF7F0109B849}"/>
              </a:ext>
            </a:extLst>
          </p:cNvPr>
          <p:cNvSpPr/>
          <p:nvPr/>
        </p:nvSpPr>
        <p:spPr>
          <a:xfrm>
            <a:off x="7835535" y="14763139"/>
            <a:ext cx="14922989" cy="4290597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52" name="hero-card">
            <a:extLst>
              <a:ext uri="{FF2B5EF4-FFF2-40B4-BE49-F238E27FC236}">
                <a16:creationId xmlns:a16="http://schemas.microsoft.com/office/drawing/2014/main" id="{43A3EC62-8DC5-4466-B5A6-178C3164D18C}"/>
              </a:ext>
            </a:extLst>
          </p:cNvPr>
          <p:cNvSpPr/>
          <p:nvPr/>
        </p:nvSpPr>
        <p:spPr>
          <a:xfrm>
            <a:off x="170496" y="14732655"/>
            <a:ext cx="7372868" cy="11680049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53" name="hero-card">
            <a:extLst>
              <a:ext uri="{FF2B5EF4-FFF2-40B4-BE49-F238E27FC236}">
                <a16:creationId xmlns:a16="http://schemas.microsoft.com/office/drawing/2014/main" id="{D01CE937-56A3-41B1-8492-C6BFBBF61498}"/>
              </a:ext>
            </a:extLst>
          </p:cNvPr>
          <p:cNvSpPr/>
          <p:nvPr/>
        </p:nvSpPr>
        <p:spPr>
          <a:xfrm>
            <a:off x="225935" y="27528134"/>
            <a:ext cx="7372868" cy="4372968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51" name="hero-card">
            <a:extLst>
              <a:ext uri="{FF2B5EF4-FFF2-40B4-BE49-F238E27FC236}">
                <a16:creationId xmlns:a16="http://schemas.microsoft.com/office/drawing/2014/main" id="{D3122587-9FD3-42F5-A69C-D82AD2999D65}"/>
              </a:ext>
            </a:extLst>
          </p:cNvPr>
          <p:cNvSpPr/>
          <p:nvPr/>
        </p:nvSpPr>
        <p:spPr>
          <a:xfrm>
            <a:off x="23159644" y="20412851"/>
            <a:ext cx="7372868" cy="4372969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49" name="hero-card">
            <a:extLst>
              <a:ext uri="{FF2B5EF4-FFF2-40B4-BE49-F238E27FC236}">
                <a16:creationId xmlns:a16="http://schemas.microsoft.com/office/drawing/2014/main" id="{117C1A23-7E5C-4985-97FC-28CFAA817708}"/>
              </a:ext>
            </a:extLst>
          </p:cNvPr>
          <p:cNvSpPr/>
          <p:nvPr/>
        </p:nvSpPr>
        <p:spPr>
          <a:xfrm>
            <a:off x="23076647" y="14705810"/>
            <a:ext cx="7372868" cy="4551160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47" name="hero-card">
            <a:extLst>
              <a:ext uri="{FF2B5EF4-FFF2-40B4-BE49-F238E27FC236}">
                <a16:creationId xmlns:a16="http://schemas.microsoft.com/office/drawing/2014/main" id="{15013437-003E-4EE7-8761-3F705012A80F}"/>
              </a:ext>
            </a:extLst>
          </p:cNvPr>
          <p:cNvSpPr/>
          <p:nvPr/>
        </p:nvSpPr>
        <p:spPr>
          <a:xfrm>
            <a:off x="23045610" y="6562611"/>
            <a:ext cx="7372868" cy="6987318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84" name="Google Shape;84;p1"/>
          <p:cNvSpPr/>
          <p:nvPr/>
        </p:nvSpPr>
        <p:spPr>
          <a:xfrm>
            <a:off x="5730" y="9043"/>
            <a:ext cx="30724476" cy="5283321"/>
          </a:xfrm>
          <a:prstGeom prst="rect">
            <a:avLst/>
          </a:prstGeom>
          <a:gradFill flip="none" rotWithShape="1">
            <a:gsLst>
              <a:gs pos="0">
                <a:srgbClr val="5CC6D8">
                  <a:tint val="66000"/>
                  <a:satMod val="160000"/>
                </a:srgbClr>
              </a:gs>
              <a:gs pos="50000">
                <a:srgbClr val="5CC6D8">
                  <a:tint val="44500"/>
                  <a:satMod val="160000"/>
                </a:srgbClr>
              </a:gs>
              <a:gs pos="100000">
                <a:srgbClr val="5CC6D8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3600"/>
            </a:pPr>
            <a:endParaRPr sz="3004" b="1" dirty="0">
              <a:solidFill>
                <a:schemeClr val="lt1"/>
              </a:solidFill>
            </a:endParaRPr>
          </a:p>
        </p:txBody>
      </p:sp>
      <p:sp>
        <p:nvSpPr>
          <p:cNvPr id="140" name="intro-card">
            <a:extLst>
              <a:ext uri="{FF2B5EF4-FFF2-40B4-BE49-F238E27FC236}">
                <a16:creationId xmlns:a16="http://schemas.microsoft.com/office/drawing/2014/main" id="{5E12023E-3E7C-40C3-8765-6C85695E90B3}"/>
              </a:ext>
            </a:extLst>
          </p:cNvPr>
          <p:cNvSpPr/>
          <p:nvPr/>
        </p:nvSpPr>
        <p:spPr>
          <a:xfrm>
            <a:off x="6097514" y="4036709"/>
            <a:ext cx="17977894" cy="108936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CC6D8">
                  <a:tint val="66000"/>
                  <a:satMod val="160000"/>
                </a:srgbClr>
              </a:gs>
              <a:gs pos="50000">
                <a:srgbClr val="5CC6D8">
                  <a:tint val="44500"/>
                  <a:satMod val="160000"/>
                </a:srgbClr>
              </a:gs>
              <a:gs pos="100000">
                <a:srgbClr val="5CC6D8">
                  <a:tint val="23500"/>
                  <a:satMod val="160000"/>
                </a:srgbClr>
              </a:gs>
            </a:gsLst>
            <a:lin ang="13500000" scaled="1"/>
            <a:tileRect/>
          </a:gradFill>
          <a:ln w="25400">
            <a:solidFill>
              <a:srgbClr val="BFDBFE"/>
            </a:solidFill>
            <a:prstDash val="solid"/>
          </a:ln>
        </p:spPr>
      </p:sp>
      <p:sp>
        <p:nvSpPr>
          <p:cNvPr id="85" name="Google Shape;85;p1"/>
          <p:cNvSpPr txBox="1"/>
          <p:nvPr/>
        </p:nvSpPr>
        <p:spPr>
          <a:xfrm>
            <a:off x="6649066" y="4098232"/>
            <a:ext cx="17426342" cy="140120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6000" b="1" i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Driver Safety and Assistance System(ADAS)</a:t>
            </a:r>
            <a:endParaRPr lang="en-US" sz="6000" i="1" u="sng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0994" y="665653"/>
            <a:ext cx="9667346" cy="498732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  <a:buSzPts val="5400"/>
            </a:pPr>
            <a:r>
              <a:rPr lang="ms" sz="4400" u="sng" dirty="0">
                <a:solidFill>
                  <a:schemeClr val="accent1">
                    <a:lumMod val="50000"/>
                  </a:schemeClr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  <a:endParaRPr lang="ms" sz="5400" u="sng" dirty="0">
              <a:solidFill>
                <a:schemeClr val="accent1">
                  <a:lumMod val="50000"/>
                </a:schemeClr>
              </a:solidFill>
              <a:latin typeface="Titillium Web"/>
              <a:sym typeface="Titillium Web"/>
            </a:endParaRPr>
          </a:p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Mohamed Mostafa El-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</a:rPr>
              <a:t>Basyouni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 (Team Leader)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Michael Magdy Amin 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</a:rPr>
              <a:t>Sidhom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Ali Ibrahim Ahmed Othman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Karim Mustafa Ali Ibrahim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Mohamed Osama </a:t>
            </a: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</a:rPr>
              <a:t>Bahnasy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 Abdel Halim</a:t>
            </a:r>
            <a:endParaRPr lang="ms" sz="7200" u="sng" dirty="0">
              <a:solidFill>
                <a:schemeClr val="accent1">
                  <a:lumMod val="50000"/>
                </a:schemeClr>
              </a:solidFill>
              <a:latin typeface="Titillium Web"/>
              <a:sym typeface="Titillium Web"/>
            </a:endParaRPr>
          </a:p>
          <a:p>
            <a:pPr>
              <a:buClr>
                <a:schemeClr val="lt1"/>
              </a:buClr>
              <a:buSzPts val="5400"/>
            </a:pPr>
            <a:endParaRPr sz="1400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endParaRPr lang="ar-EG" sz="4503" u="sng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endParaRPr sz="4503" u="sng" dirty="0">
              <a:solidFill>
                <a:schemeClr val="tx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74960" y="13710347"/>
            <a:ext cx="7268404" cy="948582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506" b="1" dirty="0">
                <a:solidFill>
                  <a:schemeClr val="lt1"/>
                </a:solidFill>
              </a:rPr>
              <a:t>ABSTRACT</a:t>
            </a:r>
            <a:endParaRPr sz="5506" b="1" dirty="0"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3007845" y="5471956"/>
            <a:ext cx="7463446" cy="931810"/>
          </a:xfrm>
          <a:prstGeom prst="roundRect">
            <a:avLst>
              <a:gd name="adj" fmla="val 19598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506" b="1" dirty="0">
                <a:solidFill>
                  <a:schemeClr val="lt1"/>
                </a:solidFill>
              </a:rPr>
              <a:t>RESULTS</a:t>
            </a:r>
            <a:endParaRPr sz="5506" b="1" dirty="0">
              <a:solidFill>
                <a:schemeClr val="lt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29178" y="47466381"/>
            <a:ext cx="30724474" cy="551931"/>
          </a:xfrm>
          <a:prstGeom prst="rect">
            <a:avLst/>
          </a:prstGeom>
          <a:gradFill>
            <a:gsLst>
              <a:gs pos="0">
                <a:srgbClr val="FF0000"/>
              </a:gs>
              <a:gs pos="55000">
                <a:schemeClr val="bg1"/>
              </a:gs>
              <a:gs pos="81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1256B-7B1C-5FA6-9141-FC03145A2FFD}"/>
              </a:ext>
            </a:extLst>
          </p:cNvPr>
          <p:cNvSpPr txBox="1"/>
          <p:nvPr/>
        </p:nvSpPr>
        <p:spPr>
          <a:xfrm>
            <a:off x="428438" y="14734684"/>
            <a:ext cx="7149156" cy="1089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5400" i="1" dirty="0" err="1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SentryEye</a:t>
            </a:r>
            <a:r>
              <a:rPr lang="en-US" altLang="en-US" sz="54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is an on-device AI driver safety system that detects eye closure and yawning in real time. Using YOLO26n, PERCLOS, and micro-event analysis, the system interprets fatigue levels and delivers visual and audio alerts directly in the browser without uploading video.</a:t>
            </a:r>
            <a:endParaRPr lang="en-US" sz="5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3DCED9-40F3-6199-9623-48152B0F779C}"/>
              </a:ext>
            </a:extLst>
          </p:cNvPr>
          <p:cNvSpPr txBox="1"/>
          <p:nvPr/>
        </p:nvSpPr>
        <p:spPr>
          <a:xfrm>
            <a:off x="462905" y="27750786"/>
            <a:ext cx="71711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To develop a real-time, camera-based driver drowsiness detection system that combines reliable computer vision with temporal fatigue analysis and privacy-preserving browser deployment</a:t>
            </a:r>
            <a:r>
              <a:rPr lang="en-US" altLang="en-US" sz="36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E1B3B-F124-FB80-1D28-9ADEDFB7B6E1}"/>
              </a:ext>
            </a:extLst>
          </p:cNvPr>
          <p:cNvSpPr txBox="1"/>
          <p:nvPr/>
        </p:nvSpPr>
        <p:spPr>
          <a:xfrm>
            <a:off x="23257402" y="20473299"/>
            <a:ext cx="694480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600" b="1" i="1" dirty="0" err="1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SentryEye</a:t>
            </a:r>
            <a:r>
              <a:rPr lang="en-US" altLang="en-US" sz="36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demonstrates that real-time driver drowsiness detection </a:t>
            </a:r>
            <a:r>
              <a:rPr lang="en-US" altLang="en-US" sz="32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can be deployed directly in the browser without transmitting video to a remote server. Visual detection, PERCLOS, and real-time alerts provide a practical foundation for privacy-preserving driver safety.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5A85547-B4A5-5390-12F5-2822B031C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5263" y="43879876"/>
            <a:ext cx="1633211" cy="1061034"/>
          </a:xfrm>
          <a:prstGeom prst="rect">
            <a:avLst/>
          </a:prstGeom>
        </p:spPr>
      </p:pic>
      <p:sp>
        <p:nvSpPr>
          <p:cNvPr id="64" name="Google Shape;86;p1"/>
          <p:cNvSpPr txBox="1"/>
          <p:nvPr/>
        </p:nvSpPr>
        <p:spPr>
          <a:xfrm>
            <a:off x="24633028" y="3285576"/>
            <a:ext cx="6153055" cy="269195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ms" sz="4503" u="sng" dirty="0">
                <a:solidFill>
                  <a:schemeClr val="accent1">
                    <a:lumMod val="50000"/>
                  </a:schemeClr>
                </a:solidFill>
                <a:latin typeface="Titillium Web"/>
                <a:ea typeface="Titillium Web"/>
                <a:cs typeface="Titillium Web"/>
                <a:sym typeface="Titillium Web"/>
              </a:rPr>
              <a:t>Under Supervision of:</a:t>
            </a:r>
            <a:endParaRPr sz="984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ms" sz="4503" b="1" u="sng" dirty="0">
                <a:solidFill>
                  <a:schemeClr val="accent1">
                    <a:lumMod val="50000"/>
                  </a:schemeClr>
                </a:solidFill>
                <a:latin typeface="Titillium Web"/>
                <a:ea typeface="Titillium Web"/>
                <a:cs typeface="Titillium Web"/>
                <a:sym typeface="Titillium Web"/>
              </a:rPr>
              <a:t>[ DR.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Kamel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Elhadad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ms" sz="4503" b="1" u="sng" dirty="0">
                <a:solidFill>
                  <a:schemeClr val="accent1">
                    <a:lumMod val="50000"/>
                  </a:schemeClr>
                </a:solidFill>
                <a:latin typeface="Titillium Web"/>
                <a:ea typeface="Titillium Web"/>
                <a:cs typeface="Titillium Web"/>
                <a:sym typeface="Titillium Web"/>
              </a:rPr>
              <a:t>]</a:t>
            </a:r>
            <a:endParaRPr lang="ms" sz="4503" b="1" u="sng" dirty="0">
              <a:solidFill>
                <a:schemeClr val="accent1">
                  <a:lumMod val="50000"/>
                </a:schemeClr>
              </a:solidFill>
              <a:latin typeface="Titillium Web"/>
              <a:sym typeface="Titillium Web"/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endParaRPr lang="ms" sz="4503" b="1" u="sng" dirty="0">
              <a:solidFill>
                <a:schemeClr val="tx1"/>
              </a:solidFill>
              <a:latin typeface="Titillium Web"/>
              <a:sym typeface="Titillium Web"/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endParaRPr sz="984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54C9A4-1B8B-9495-8D01-C896E07B3A5C}"/>
              </a:ext>
            </a:extLst>
          </p:cNvPr>
          <p:cNvGrpSpPr/>
          <p:nvPr/>
        </p:nvGrpSpPr>
        <p:grpSpPr>
          <a:xfrm>
            <a:off x="10681162" y="73520"/>
            <a:ext cx="19479374" cy="3665488"/>
            <a:chOff x="10681162" y="73520"/>
            <a:chExt cx="19479374" cy="366548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7D6E566-1D40-8A22-E6E3-0933403A513F}"/>
                </a:ext>
              </a:extLst>
            </p:cNvPr>
            <p:cNvGrpSpPr/>
            <p:nvPr/>
          </p:nvGrpSpPr>
          <p:grpSpPr>
            <a:xfrm>
              <a:off x="10681162" y="73520"/>
              <a:ext cx="19479374" cy="3327736"/>
              <a:chOff x="10681162" y="73520"/>
              <a:chExt cx="19479374" cy="332773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EF8F6E35-20C7-4101-C836-DEC186CBF31E}"/>
                  </a:ext>
                </a:extLst>
              </p:cNvPr>
              <p:cNvGrpSpPr/>
              <p:nvPr/>
            </p:nvGrpSpPr>
            <p:grpSpPr>
              <a:xfrm>
                <a:off x="19817371" y="151034"/>
                <a:ext cx="10343165" cy="3250222"/>
                <a:chOff x="19817371" y="151034"/>
                <a:chExt cx="10343165" cy="3250222"/>
              </a:xfrm>
            </p:grpSpPr>
            <p:pic>
              <p:nvPicPr>
                <p:cNvPr id="62" name="صورة 8" descr="logo"/>
                <p:cNvPicPr/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523" t="2640" r="24189" b="3760"/>
                <a:stretch/>
              </p:blipFill>
              <p:spPr bwMode="auto">
                <a:xfrm>
                  <a:off x="19817371" y="1023909"/>
                  <a:ext cx="2671824" cy="23773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63" name="صورة 6" descr="logo"/>
                <p:cNvPicPr/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090" t="10535" r="5108" b="8598"/>
                <a:stretch/>
              </p:blipFill>
              <p:spPr bwMode="auto">
                <a:xfrm>
                  <a:off x="24007482" y="151034"/>
                  <a:ext cx="6153054" cy="2615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</p:grpSp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1162" y="73520"/>
                <a:ext cx="3124158" cy="3085796"/>
              </a:xfrm>
              <a:prstGeom prst="ellipse">
                <a:avLst/>
              </a:prstGeom>
              <a:ln w="3175" cap="rnd">
                <a:solidFill>
                  <a:srgbClr val="C8C6BD"/>
                </a:solidFill>
                <a:prstDash val="solid"/>
              </a:ln>
              <a:effectLst>
                <a:outerShdw blurRad="127000" algn="bl" rotWithShape="0">
                  <a:srgbClr val="000000"/>
                </a:outerShdw>
              </a:effectLst>
              <a:scene3d>
                <a:camera prst="perspectiveFront" fov="5400000"/>
                <a:lightRig rig="threePt" dir="t">
                  <a:rot lat="0" lon="0" rev="19200000"/>
                </a:lightRig>
              </a:scene3d>
              <a:sp3d extrusionH="25400">
                <a:bevelT w="304800" h="152400" prst="hardEdge"/>
                <a:extrusionClr>
                  <a:srgbClr val="000000"/>
                </a:extrusionClr>
              </a:sp3d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8AAFD08-D898-AA95-B46F-545CCB6BD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262399" y="552379"/>
              <a:ext cx="3186629" cy="3186629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11E5881-A5CF-4AC8-8546-358618ECC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30103" y="14895847"/>
            <a:ext cx="3501941" cy="35019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EE5EDA-F5AA-4345-9554-C0DFA1D643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16349" y="14895847"/>
            <a:ext cx="3462915" cy="3462915"/>
          </a:xfrm>
          <a:prstGeom prst="rect">
            <a:avLst/>
          </a:prstGeom>
        </p:spPr>
      </p:pic>
      <p:sp>
        <p:nvSpPr>
          <p:cNvPr id="53" name="Google Shape;86;p1">
            <a:extLst>
              <a:ext uri="{FF2B5EF4-FFF2-40B4-BE49-F238E27FC236}">
                <a16:creationId xmlns:a16="http://schemas.microsoft.com/office/drawing/2014/main" id="{7947D870-FB36-4287-954B-890DEAE510AA}"/>
              </a:ext>
            </a:extLst>
          </p:cNvPr>
          <p:cNvSpPr txBox="1"/>
          <p:nvPr/>
        </p:nvSpPr>
        <p:spPr>
          <a:xfrm>
            <a:off x="23518069" y="18302091"/>
            <a:ext cx="3279280" cy="112338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2800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tillium Web"/>
              </a:rPr>
              <a:t>https://sharp-gaze-platform.lovable.app</a:t>
            </a:r>
            <a:endParaRPr lang="ms" sz="2800" b="1" i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tillium Web"/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endParaRPr sz="200" i="1" dirty="0">
              <a:solidFill>
                <a:schemeClr val="tx1"/>
              </a:solidFill>
            </a:endParaRPr>
          </a:p>
        </p:txBody>
      </p:sp>
      <p:sp>
        <p:nvSpPr>
          <p:cNvPr id="54" name="Google Shape;86;p1">
            <a:extLst>
              <a:ext uri="{FF2B5EF4-FFF2-40B4-BE49-F238E27FC236}">
                <a16:creationId xmlns:a16="http://schemas.microsoft.com/office/drawing/2014/main" id="{4E7C114B-776A-4059-AFB1-B0095D501786}"/>
              </a:ext>
            </a:extLst>
          </p:cNvPr>
          <p:cNvSpPr txBox="1"/>
          <p:nvPr/>
        </p:nvSpPr>
        <p:spPr>
          <a:xfrm>
            <a:off x="26947035" y="18358762"/>
            <a:ext cx="3279280" cy="85408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2400" b="1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tillium Web"/>
              </a:rPr>
              <a:t>https://dashboard-grad-project.vercel.app</a:t>
            </a:r>
            <a:endParaRPr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dataset-subtitle">
            <a:extLst>
              <a:ext uri="{FF2B5EF4-FFF2-40B4-BE49-F238E27FC236}">
                <a16:creationId xmlns:a16="http://schemas.microsoft.com/office/drawing/2014/main" id="{81BA245F-3AEC-41A3-8EBC-F854989E0BCE}"/>
              </a:ext>
            </a:extLst>
          </p:cNvPr>
          <p:cNvSpPr/>
          <p:nvPr/>
        </p:nvSpPr>
        <p:spPr>
          <a:xfrm>
            <a:off x="22968955" y="27336960"/>
            <a:ext cx="7703886" cy="2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3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· 68,292 ANNOTATED INSTANCES</a:t>
            </a:r>
            <a:endParaRPr lang="en-US" sz="3200" b="1" dirty="0"/>
          </a:p>
        </p:txBody>
      </p:sp>
      <p:sp>
        <p:nvSpPr>
          <p:cNvPr id="57" name="train-box">
            <a:extLst>
              <a:ext uri="{FF2B5EF4-FFF2-40B4-BE49-F238E27FC236}">
                <a16:creationId xmlns:a16="http://schemas.microsoft.com/office/drawing/2014/main" id="{4F6671CD-71F8-4275-8385-A5C9AF903EDB}"/>
              </a:ext>
            </a:extLst>
          </p:cNvPr>
          <p:cNvSpPr/>
          <p:nvPr/>
        </p:nvSpPr>
        <p:spPr>
          <a:xfrm>
            <a:off x="23257402" y="28465099"/>
            <a:ext cx="2263515" cy="167723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rain-value">
            <a:extLst>
              <a:ext uri="{FF2B5EF4-FFF2-40B4-BE49-F238E27FC236}">
                <a16:creationId xmlns:a16="http://schemas.microsoft.com/office/drawing/2014/main" id="{3691A156-E185-4132-92F8-4C7B8E644F17}"/>
              </a:ext>
            </a:extLst>
          </p:cNvPr>
          <p:cNvSpPr/>
          <p:nvPr/>
        </p:nvSpPr>
        <p:spPr>
          <a:xfrm>
            <a:off x="23301889" y="28530232"/>
            <a:ext cx="2117462" cy="328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5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39,627</a:t>
            </a:r>
            <a:endParaRPr lang="en-US" sz="5400" b="1" dirty="0">
              <a:solidFill>
                <a:srgbClr val="1D4ED8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59" name="train-label">
            <a:extLst>
              <a:ext uri="{FF2B5EF4-FFF2-40B4-BE49-F238E27FC236}">
                <a16:creationId xmlns:a16="http://schemas.microsoft.com/office/drawing/2014/main" id="{FCD08E5D-2906-4DD6-BB3A-26314592525D}"/>
              </a:ext>
            </a:extLst>
          </p:cNvPr>
          <p:cNvSpPr/>
          <p:nvPr/>
        </p:nvSpPr>
        <p:spPr>
          <a:xfrm>
            <a:off x="23301889" y="29488247"/>
            <a:ext cx="2117462" cy="23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Font typeface="Arial"/>
              <a:buNone/>
            </a:pPr>
            <a:r>
              <a:rPr lang="en-US" altLang="en-US" sz="24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TRAIN</a:t>
            </a:r>
            <a:endParaRPr lang="en-US" sz="2400" b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60" name="val-box">
            <a:extLst>
              <a:ext uri="{FF2B5EF4-FFF2-40B4-BE49-F238E27FC236}">
                <a16:creationId xmlns:a16="http://schemas.microsoft.com/office/drawing/2014/main" id="{B9856F83-2081-405D-A573-B794C400F4FB}"/>
              </a:ext>
            </a:extLst>
          </p:cNvPr>
          <p:cNvSpPr/>
          <p:nvPr/>
        </p:nvSpPr>
        <p:spPr>
          <a:xfrm>
            <a:off x="25622870" y="28463879"/>
            <a:ext cx="2552477" cy="16900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val-value">
            <a:extLst>
              <a:ext uri="{FF2B5EF4-FFF2-40B4-BE49-F238E27FC236}">
                <a16:creationId xmlns:a16="http://schemas.microsoft.com/office/drawing/2014/main" id="{50E65E71-BBEC-4BC9-BB05-0649B9942B5E}"/>
              </a:ext>
            </a:extLst>
          </p:cNvPr>
          <p:cNvSpPr/>
          <p:nvPr/>
        </p:nvSpPr>
        <p:spPr>
          <a:xfrm>
            <a:off x="25738618" y="28492972"/>
            <a:ext cx="2117462" cy="328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5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5,438</a:t>
            </a:r>
            <a:endParaRPr lang="en-US" sz="5400" b="1" dirty="0">
              <a:solidFill>
                <a:srgbClr val="1D4ED8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66" name="val-label">
            <a:extLst>
              <a:ext uri="{FF2B5EF4-FFF2-40B4-BE49-F238E27FC236}">
                <a16:creationId xmlns:a16="http://schemas.microsoft.com/office/drawing/2014/main" id="{A8A37B66-2553-4444-8B61-3D01E21ADA64}"/>
              </a:ext>
            </a:extLst>
          </p:cNvPr>
          <p:cNvSpPr/>
          <p:nvPr/>
        </p:nvSpPr>
        <p:spPr>
          <a:xfrm>
            <a:off x="25762167" y="29452353"/>
            <a:ext cx="2117462" cy="23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en-US" sz="24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VAL</a:t>
            </a:r>
            <a:endParaRPr lang="en-US" sz="2400" b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67" name="test-box">
            <a:extLst>
              <a:ext uri="{FF2B5EF4-FFF2-40B4-BE49-F238E27FC236}">
                <a16:creationId xmlns:a16="http://schemas.microsoft.com/office/drawing/2014/main" id="{D81BE4DF-6F3F-4A3A-82EB-5414A103A757}"/>
              </a:ext>
            </a:extLst>
          </p:cNvPr>
          <p:cNvSpPr/>
          <p:nvPr/>
        </p:nvSpPr>
        <p:spPr>
          <a:xfrm>
            <a:off x="28272061" y="28452262"/>
            <a:ext cx="2117462" cy="16900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8" name="test-value">
            <a:extLst>
              <a:ext uri="{FF2B5EF4-FFF2-40B4-BE49-F238E27FC236}">
                <a16:creationId xmlns:a16="http://schemas.microsoft.com/office/drawing/2014/main" id="{AEC03BD9-C217-48EC-A3AC-76BE0DB52304}"/>
              </a:ext>
            </a:extLst>
          </p:cNvPr>
          <p:cNvSpPr/>
          <p:nvPr/>
        </p:nvSpPr>
        <p:spPr>
          <a:xfrm>
            <a:off x="28351886" y="28530233"/>
            <a:ext cx="2117462" cy="328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5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5,589</a:t>
            </a:r>
            <a:endParaRPr lang="en-US" sz="5400" b="1" dirty="0"/>
          </a:p>
        </p:txBody>
      </p:sp>
      <p:sp>
        <p:nvSpPr>
          <p:cNvPr id="69" name="test-label">
            <a:extLst>
              <a:ext uri="{FF2B5EF4-FFF2-40B4-BE49-F238E27FC236}">
                <a16:creationId xmlns:a16="http://schemas.microsoft.com/office/drawing/2014/main" id="{8B2B35E0-AF61-4E8B-85C6-C4BF16BBD53B}"/>
              </a:ext>
            </a:extLst>
          </p:cNvPr>
          <p:cNvSpPr/>
          <p:nvPr/>
        </p:nvSpPr>
        <p:spPr>
          <a:xfrm>
            <a:off x="28505618" y="29415416"/>
            <a:ext cx="2117462" cy="48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</a:t>
            </a:r>
            <a:endParaRPr lang="en-US" sz="2400" b="1" dirty="0"/>
          </a:p>
        </p:txBody>
      </p:sp>
      <p:sp>
        <p:nvSpPr>
          <p:cNvPr id="70" name="classes-heading">
            <a:extLst>
              <a:ext uri="{FF2B5EF4-FFF2-40B4-BE49-F238E27FC236}">
                <a16:creationId xmlns:a16="http://schemas.microsoft.com/office/drawing/2014/main" id="{1232E3D8-4709-4747-AEA6-C8F6F3ED0B45}"/>
              </a:ext>
            </a:extLst>
          </p:cNvPr>
          <p:cNvSpPr/>
          <p:nvPr/>
        </p:nvSpPr>
        <p:spPr>
          <a:xfrm>
            <a:off x="23159644" y="30335791"/>
            <a:ext cx="2889234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000" b="1" i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CLASSES</a:t>
            </a:r>
            <a:endParaRPr lang="en-US" sz="4000" b="1" i="1" dirty="0"/>
          </a:p>
        </p:txBody>
      </p:sp>
      <p:sp>
        <p:nvSpPr>
          <p:cNvPr id="71" name="classes-list">
            <a:extLst>
              <a:ext uri="{FF2B5EF4-FFF2-40B4-BE49-F238E27FC236}">
                <a16:creationId xmlns:a16="http://schemas.microsoft.com/office/drawing/2014/main" id="{B314F2C0-1446-4830-A519-C6091A0D1ECE}"/>
              </a:ext>
            </a:extLst>
          </p:cNvPr>
          <p:cNvSpPr/>
          <p:nvPr/>
        </p:nvSpPr>
        <p:spPr>
          <a:xfrm>
            <a:off x="23159644" y="30941567"/>
            <a:ext cx="3368690" cy="2588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10"/>
              </a:spcBef>
              <a:buSzPct val="100000"/>
            </a:pPr>
            <a:r>
              <a:rPr lang="en-US" altLang="en-US" sz="32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en-US" altLang="en-US" sz="3200" b="1" dirty="0" err="1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closed_eye</a:t>
            </a:r>
            <a:endParaRPr lang="en-US" sz="3200" b="1" dirty="0"/>
          </a:p>
          <a:p>
            <a:pPr algn="ctr">
              <a:spcBef>
                <a:spcPts val="10"/>
              </a:spcBef>
              <a:buSzPct val="100000"/>
            </a:pPr>
            <a:r>
              <a:rPr lang="en-US" altLang="en-US" sz="32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en-US" sz="3200" b="1" dirty="0" err="1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open_eye</a:t>
            </a:r>
            <a:endParaRPr lang="en-US" sz="3200" b="1" dirty="0"/>
          </a:p>
          <a:p>
            <a:pPr algn="ctr">
              <a:spcBef>
                <a:spcPts val="10"/>
              </a:spcBef>
              <a:buSzPct val="100000"/>
            </a:pPr>
            <a:r>
              <a:rPr lang="en-US" altLang="en-US" sz="36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en-US" sz="36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yawning</a:t>
            </a:r>
            <a:endParaRPr lang="en-US" sz="3600" b="1" dirty="0"/>
          </a:p>
        </p:txBody>
      </p:sp>
      <p:pic>
        <p:nvPicPr>
          <p:cNvPr id="72" name="eye-samples" descr="preencoded.png">
            <a:extLst>
              <a:ext uri="{FF2B5EF4-FFF2-40B4-BE49-F238E27FC236}">
                <a16:creationId xmlns:a16="http://schemas.microsoft.com/office/drawing/2014/main" id="{8708CD67-40BB-4E7B-A868-6C5967B4C4B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425" r="-425"/>
          <a:stretch/>
        </p:blipFill>
        <p:spPr>
          <a:xfrm>
            <a:off x="26174700" y="30346101"/>
            <a:ext cx="4131673" cy="259206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73" name="augmentation-text">
            <a:extLst>
              <a:ext uri="{FF2B5EF4-FFF2-40B4-BE49-F238E27FC236}">
                <a16:creationId xmlns:a16="http://schemas.microsoft.com/office/drawing/2014/main" id="{8F3CB06E-02E5-4E5F-8EE5-330A6050950B}"/>
              </a:ext>
            </a:extLst>
          </p:cNvPr>
          <p:cNvSpPr/>
          <p:nvPr/>
        </p:nvSpPr>
        <p:spPr>
          <a:xfrm>
            <a:off x="23230103" y="33355854"/>
            <a:ext cx="7662715" cy="195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altLang="en-US" sz="32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Augmentation: HSV jitter, rotation, shear, translation, random erasing (moderate + worst-case tiers).</a:t>
            </a:r>
            <a:endParaRPr lang="en-US" sz="3200" b="1" i="1" dirty="0"/>
          </a:p>
          <a:p>
            <a:pPr marL="0" indent="0" algn="l">
              <a:buNone/>
            </a:pPr>
            <a:r>
              <a:rPr lang="en-US" altLang="en-US" sz="32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Mosaic / mixup / copy-paste deliberately disabled.</a:t>
            </a:r>
            <a:endParaRPr lang="en-US" sz="3200" b="1" i="1" dirty="0"/>
          </a:p>
        </p:txBody>
      </p:sp>
      <p:sp>
        <p:nvSpPr>
          <p:cNvPr id="74" name="dataset-big-number">
            <a:extLst>
              <a:ext uri="{FF2B5EF4-FFF2-40B4-BE49-F238E27FC236}">
                <a16:creationId xmlns:a16="http://schemas.microsoft.com/office/drawing/2014/main" id="{AA7C2DD7-55BC-40C1-90AA-F036E05F78DC}"/>
              </a:ext>
            </a:extLst>
          </p:cNvPr>
          <p:cNvSpPr/>
          <p:nvPr/>
        </p:nvSpPr>
        <p:spPr>
          <a:xfrm>
            <a:off x="24653917" y="26024728"/>
            <a:ext cx="4229407" cy="1285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8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50,654</a:t>
            </a:r>
            <a:endParaRPr lang="en-US" sz="8800" b="1" dirty="0"/>
          </a:p>
        </p:txBody>
      </p:sp>
      <p:sp>
        <p:nvSpPr>
          <p:cNvPr id="75" name="map50-tile">
            <a:extLst>
              <a:ext uri="{FF2B5EF4-FFF2-40B4-BE49-F238E27FC236}">
                <a16:creationId xmlns:a16="http://schemas.microsoft.com/office/drawing/2014/main" id="{B88625D7-A095-4982-BEC4-AFF74A19823F}"/>
              </a:ext>
            </a:extLst>
          </p:cNvPr>
          <p:cNvSpPr/>
          <p:nvPr/>
        </p:nvSpPr>
        <p:spPr>
          <a:xfrm>
            <a:off x="23318957" y="6759607"/>
            <a:ext cx="3300122" cy="1903813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6" name="map50-tile">
            <a:extLst>
              <a:ext uri="{FF2B5EF4-FFF2-40B4-BE49-F238E27FC236}">
                <a16:creationId xmlns:a16="http://schemas.microsoft.com/office/drawing/2014/main" id="{4568FE7A-A37B-4230-98B5-AE6D80409A90}"/>
              </a:ext>
            </a:extLst>
          </p:cNvPr>
          <p:cNvSpPr/>
          <p:nvPr/>
        </p:nvSpPr>
        <p:spPr>
          <a:xfrm>
            <a:off x="27051658" y="6694407"/>
            <a:ext cx="3150551" cy="196901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7" name="map50-tile">
            <a:extLst>
              <a:ext uri="{FF2B5EF4-FFF2-40B4-BE49-F238E27FC236}">
                <a16:creationId xmlns:a16="http://schemas.microsoft.com/office/drawing/2014/main" id="{7C73A3A3-FFDD-4428-B60A-320CEB2C8C03}"/>
              </a:ext>
            </a:extLst>
          </p:cNvPr>
          <p:cNvSpPr/>
          <p:nvPr/>
        </p:nvSpPr>
        <p:spPr>
          <a:xfrm>
            <a:off x="23304975" y="8895182"/>
            <a:ext cx="3300122" cy="1903813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8" name="map50-tile">
            <a:extLst>
              <a:ext uri="{FF2B5EF4-FFF2-40B4-BE49-F238E27FC236}">
                <a16:creationId xmlns:a16="http://schemas.microsoft.com/office/drawing/2014/main" id="{3BFB9777-E419-485C-8AA4-7A703064D1DA}"/>
              </a:ext>
            </a:extLst>
          </p:cNvPr>
          <p:cNvSpPr/>
          <p:nvPr/>
        </p:nvSpPr>
        <p:spPr>
          <a:xfrm>
            <a:off x="26985645" y="8865264"/>
            <a:ext cx="3148886" cy="193373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9" name="map50-tile">
            <a:extLst>
              <a:ext uri="{FF2B5EF4-FFF2-40B4-BE49-F238E27FC236}">
                <a16:creationId xmlns:a16="http://schemas.microsoft.com/office/drawing/2014/main" id="{D2AFCED7-5E65-4D1D-B8A0-4A629789C8A3}"/>
              </a:ext>
            </a:extLst>
          </p:cNvPr>
          <p:cNvSpPr/>
          <p:nvPr/>
        </p:nvSpPr>
        <p:spPr>
          <a:xfrm>
            <a:off x="23353000" y="11018869"/>
            <a:ext cx="3300122" cy="187112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0" name="map50-tile">
            <a:extLst>
              <a:ext uri="{FF2B5EF4-FFF2-40B4-BE49-F238E27FC236}">
                <a16:creationId xmlns:a16="http://schemas.microsoft.com/office/drawing/2014/main" id="{BA06DB63-DE54-46CC-8FAD-D8A8AB75D6F4}"/>
              </a:ext>
            </a:extLst>
          </p:cNvPr>
          <p:cNvSpPr/>
          <p:nvPr/>
        </p:nvSpPr>
        <p:spPr>
          <a:xfrm>
            <a:off x="27039626" y="10989032"/>
            <a:ext cx="3120910" cy="187112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1" name="map50-value">
            <a:extLst>
              <a:ext uri="{FF2B5EF4-FFF2-40B4-BE49-F238E27FC236}">
                <a16:creationId xmlns:a16="http://schemas.microsoft.com/office/drawing/2014/main" id="{430B2228-2D4A-4F55-AE99-AA39D8E8F208}"/>
              </a:ext>
            </a:extLst>
          </p:cNvPr>
          <p:cNvSpPr/>
          <p:nvPr/>
        </p:nvSpPr>
        <p:spPr>
          <a:xfrm>
            <a:off x="23433636" y="7748321"/>
            <a:ext cx="3432749" cy="12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6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86.75%</a:t>
            </a:r>
            <a:endParaRPr lang="en-US" sz="6600" b="1" dirty="0"/>
          </a:p>
        </p:txBody>
      </p:sp>
      <p:sp>
        <p:nvSpPr>
          <p:cNvPr id="82" name="map50-name">
            <a:extLst>
              <a:ext uri="{FF2B5EF4-FFF2-40B4-BE49-F238E27FC236}">
                <a16:creationId xmlns:a16="http://schemas.microsoft.com/office/drawing/2014/main" id="{C60DD897-5631-48AA-901D-E7D7D9A57071}"/>
              </a:ext>
            </a:extLst>
          </p:cNvPr>
          <p:cNvSpPr/>
          <p:nvPr/>
        </p:nvSpPr>
        <p:spPr>
          <a:xfrm>
            <a:off x="23007845" y="7027256"/>
            <a:ext cx="3729269" cy="84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0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mAP@50</a:t>
            </a:r>
            <a:endParaRPr lang="en-US" sz="4000" b="1" i="1" dirty="0"/>
          </a:p>
        </p:txBody>
      </p:sp>
      <p:sp>
        <p:nvSpPr>
          <p:cNvPr id="83" name="map50-name">
            <a:extLst>
              <a:ext uri="{FF2B5EF4-FFF2-40B4-BE49-F238E27FC236}">
                <a16:creationId xmlns:a16="http://schemas.microsoft.com/office/drawing/2014/main" id="{F8B8D693-BE52-4212-BFB0-2B500F32C3D8}"/>
              </a:ext>
            </a:extLst>
          </p:cNvPr>
          <p:cNvSpPr/>
          <p:nvPr/>
        </p:nvSpPr>
        <p:spPr>
          <a:xfrm>
            <a:off x="26866385" y="6886106"/>
            <a:ext cx="3560249" cy="823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0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mAP@50</a:t>
            </a:r>
            <a:endParaRPr lang="en-US" sz="4000" b="1" i="1" dirty="0"/>
          </a:p>
        </p:txBody>
      </p:sp>
      <p:sp>
        <p:nvSpPr>
          <p:cNvPr id="91" name="map50-value">
            <a:extLst>
              <a:ext uri="{FF2B5EF4-FFF2-40B4-BE49-F238E27FC236}">
                <a16:creationId xmlns:a16="http://schemas.microsoft.com/office/drawing/2014/main" id="{D7ABBFF3-BA3F-4126-A8B3-80591CC2B19C}"/>
              </a:ext>
            </a:extLst>
          </p:cNvPr>
          <p:cNvSpPr/>
          <p:nvPr/>
        </p:nvSpPr>
        <p:spPr>
          <a:xfrm>
            <a:off x="27172348" y="7642908"/>
            <a:ext cx="3277167" cy="126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6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86.75%</a:t>
            </a:r>
            <a:endParaRPr lang="en-US" sz="6600" b="1" dirty="0"/>
          </a:p>
        </p:txBody>
      </p:sp>
      <p:sp>
        <p:nvSpPr>
          <p:cNvPr id="92" name="map50-value">
            <a:extLst>
              <a:ext uri="{FF2B5EF4-FFF2-40B4-BE49-F238E27FC236}">
                <a16:creationId xmlns:a16="http://schemas.microsoft.com/office/drawing/2014/main" id="{08D4A9D4-33B2-441C-AC2B-1FCE8722FC3E}"/>
              </a:ext>
            </a:extLst>
          </p:cNvPr>
          <p:cNvSpPr/>
          <p:nvPr/>
        </p:nvSpPr>
        <p:spPr>
          <a:xfrm>
            <a:off x="23466901" y="9723482"/>
            <a:ext cx="3432749" cy="12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6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90.23</a:t>
            </a:r>
            <a:r>
              <a:rPr lang="en-US" altLang="en-US" sz="66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600" dirty="0"/>
          </a:p>
        </p:txBody>
      </p:sp>
      <p:sp>
        <p:nvSpPr>
          <p:cNvPr id="96" name="map50-value">
            <a:extLst>
              <a:ext uri="{FF2B5EF4-FFF2-40B4-BE49-F238E27FC236}">
                <a16:creationId xmlns:a16="http://schemas.microsoft.com/office/drawing/2014/main" id="{7D0A1872-63C6-47F5-81F9-C35408A178C3}"/>
              </a:ext>
            </a:extLst>
          </p:cNvPr>
          <p:cNvSpPr/>
          <p:nvPr/>
        </p:nvSpPr>
        <p:spPr>
          <a:xfrm>
            <a:off x="23466901" y="11785019"/>
            <a:ext cx="3432749" cy="13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6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89.23</a:t>
            </a:r>
            <a:r>
              <a:rPr lang="en-US" altLang="en-US" sz="66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600" dirty="0"/>
          </a:p>
        </p:txBody>
      </p:sp>
      <p:sp>
        <p:nvSpPr>
          <p:cNvPr id="101" name="map50-value">
            <a:extLst>
              <a:ext uri="{FF2B5EF4-FFF2-40B4-BE49-F238E27FC236}">
                <a16:creationId xmlns:a16="http://schemas.microsoft.com/office/drawing/2014/main" id="{5F525BE6-631C-47D5-BF51-60B175A15CD2}"/>
              </a:ext>
            </a:extLst>
          </p:cNvPr>
          <p:cNvSpPr/>
          <p:nvPr/>
        </p:nvSpPr>
        <p:spPr>
          <a:xfrm>
            <a:off x="27084009" y="9701525"/>
            <a:ext cx="3275435" cy="128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6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88.38</a:t>
            </a:r>
            <a:r>
              <a:rPr lang="en-US" altLang="en-US" sz="66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600" dirty="0"/>
          </a:p>
        </p:txBody>
      </p:sp>
      <p:sp>
        <p:nvSpPr>
          <p:cNvPr id="102" name="map50-value">
            <a:extLst>
              <a:ext uri="{FF2B5EF4-FFF2-40B4-BE49-F238E27FC236}">
                <a16:creationId xmlns:a16="http://schemas.microsoft.com/office/drawing/2014/main" id="{03E4893E-0182-47F7-B1E8-37FC972365B4}"/>
              </a:ext>
            </a:extLst>
          </p:cNvPr>
          <p:cNvSpPr/>
          <p:nvPr/>
        </p:nvSpPr>
        <p:spPr>
          <a:xfrm>
            <a:off x="26659483" y="11736123"/>
            <a:ext cx="3881196" cy="1338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66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97.2</a:t>
            </a:r>
            <a:r>
              <a:rPr lang="en-US" altLang="en-US" sz="66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en-US" sz="4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</a:rPr>
              <a:t>FPS</a:t>
            </a:r>
            <a:endParaRPr lang="en-US" sz="6600" b="1" dirty="0">
              <a:solidFill>
                <a:srgbClr val="1D4ED8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06" name="map50-name">
            <a:extLst>
              <a:ext uri="{FF2B5EF4-FFF2-40B4-BE49-F238E27FC236}">
                <a16:creationId xmlns:a16="http://schemas.microsoft.com/office/drawing/2014/main" id="{9231F00B-1571-4994-9A1E-7EB68A7F03D2}"/>
              </a:ext>
            </a:extLst>
          </p:cNvPr>
          <p:cNvSpPr/>
          <p:nvPr/>
        </p:nvSpPr>
        <p:spPr>
          <a:xfrm>
            <a:off x="26820898" y="9030124"/>
            <a:ext cx="3558366" cy="84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0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Recall</a:t>
            </a:r>
            <a:endParaRPr lang="en-US" sz="4000" b="1" i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10" name="map50-name">
            <a:extLst>
              <a:ext uri="{FF2B5EF4-FFF2-40B4-BE49-F238E27FC236}">
                <a16:creationId xmlns:a16="http://schemas.microsoft.com/office/drawing/2014/main" id="{529464C3-9A36-4B64-8840-6D9C1897AB79}"/>
              </a:ext>
            </a:extLst>
          </p:cNvPr>
          <p:cNvSpPr/>
          <p:nvPr/>
        </p:nvSpPr>
        <p:spPr>
          <a:xfrm>
            <a:off x="26619908" y="11107278"/>
            <a:ext cx="3960346" cy="87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32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Inference</a:t>
            </a:r>
            <a:r>
              <a:rPr lang="en-US" altLang="en-US" sz="32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en-US" sz="32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Speed</a:t>
            </a:r>
            <a:endParaRPr lang="en-US" sz="3200" b="1" i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11" name="map50-name">
            <a:extLst>
              <a:ext uri="{FF2B5EF4-FFF2-40B4-BE49-F238E27FC236}">
                <a16:creationId xmlns:a16="http://schemas.microsoft.com/office/drawing/2014/main" id="{F84079E5-A1E7-49D1-8ED6-DDD8C2CF956C}"/>
              </a:ext>
            </a:extLst>
          </p:cNvPr>
          <p:cNvSpPr/>
          <p:nvPr/>
        </p:nvSpPr>
        <p:spPr>
          <a:xfrm>
            <a:off x="23185743" y="9111143"/>
            <a:ext cx="3729269" cy="84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0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Precision</a:t>
            </a:r>
            <a:endParaRPr lang="en-US" sz="4000" b="1" i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12" name="map50-name">
            <a:extLst>
              <a:ext uri="{FF2B5EF4-FFF2-40B4-BE49-F238E27FC236}">
                <a16:creationId xmlns:a16="http://schemas.microsoft.com/office/drawing/2014/main" id="{55A3B96D-FB0D-4D04-A084-359259E33107}"/>
              </a:ext>
            </a:extLst>
          </p:cNvPr>
          <p:cNvSpPr/>
          <p:nvPr/>
        </p:nvSpPr>
        <p:spPr>
          <a:xfrm>
            <a:off x="23135686" y="11223020"/>
            <a:ext cx="3729269" cy="90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000" b="1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F1-Score</a:t>
            </a:r>
            <a:endParaRPr lang="en-US" sz="4000" b="1" i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14" name="camera-node">
            <a:extLst>
              <a:ext uri="{FF2B5EF4-FFF2-40B4-BE49-F238E27FC236}">
                <a16:creationId xmlns:a16="http://schemas.microsoft.com/office/drawing/2014/main" id="{A4D6395B-97A5-42D5-96DB-D0DD7FDC61D4}"/>
              </a:ext>
            </a:extLst>
          </p:cNvPr>
          <p:cNvSpPr/>
          <p:nvPr/>
        </p:nvSpPr>
        <p:spPr>
          <a:xfrm>
            <a:off x="7863602" y="15089281"/>
            <a:ext cx="2567510" cy="194855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8" name="camera-node">
            <a:extLst>
              <a:ext uri="{FF2B5EF4-FFF2-40B4-BE49-F238E27FC236}">
                <a16:creationId xmlns:a16="http://schemas.microsoft.com/office/drawing/2014/main" id="{DA9AB08C-3906-4C0F-90E8-9732723D3297}"/>
              </a:ext>
            </a:extLst>
          </p:cNvPr>
          <p:cNvSpPr/>
          <p:nvPr/>
        </p:nvSpPr>
        <p:spPr>
          <a:xfrm>
            <a:off x="10877585" y="15130272"/>
            <a:ext cx="2567510" cy="1995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9" name="camera-node">
            <a:extLst>
              <a:ext uri="{FF2B5EF4-FFF2-40B4-BE49-F238E27FC236}">
                <a16:creationId xmlns:a16="http://schemas.microsoft.com/office/drawing/2014/main" id="{BA548748-0BEE-4214-AEE4-B683130B26C1}"/>
              </a:ext>
            </a:extLst>
          </p:cNvPr>
          <p:cNvSpPr/>
          <p:nvPr/>
        </p:nvSpPr>
        <p:spPr>
          <a:xfrm>
            <a:off x="13799206" y="15158632"/>
            <a:ext cx="2567510" cy="1995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0" name="camera-node">
            <a:extLst>
              <a:ext uri="{FF2B5EF4-FFF2-40B4-BE49-F238E27FC236}">
                <a16:creationId xmlns:a16="http://schemas.microsoft.com/office/drawing/2014/main" id="{E27D642B-38B7-4D29-BE04-0D8C65A01650}"/>
              </a:ext>
            </a:extLst>
          </p:cNvPr>
          <p:cNvSpPr/>
          <p:nvPr/>
        </p:nvSpPr>
        <p:spPr>
          <a:xfrm>
            <a:off x="16871426" y="15192763"/>
            <a:ext cx="2567510" cy="2048685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1" name="camera-node">
            <a:extLst>
              <a:ext uri="{FF2B5EF4-FFF2-40B4-BE49-F238E27FC236}">
                <a16:creationId xmlns:a16="http://schemas.microsoft.com/office/drawing/2014/main" id="{A01EDE1B-9161-44AB-B9EC-0476C093CD1F}"/>
              </a:ext>
            </a:extLst>
          </p:cNvPr>
          <p:cNvSpPr/>
          <p:nvPr/>
        </p:nvSpPr>
        <p:spPr>
          <a:xfrm>
            <a:off x="19870785" y="15202553"/>
            <a:ext cx="2567510" cy="2048685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22" name="camera-icon" descr="preencoded.png">
            <a:extLst>
              <a:ext uri="{FF2B5EF4-FFF2-40B4-BE49-F238E27FC236}">
                <a16:creationId xmlns:a16="http://schemas.microsoft.com/office/drawing/2014/main" id="{35A9E44B-3D7E-4154-AF0B-66C017E27A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0511" y="15011797"/>
            <a:ext cx="1325574" cy="1325574"/>
          </a:xfrm>
          <a:prstGeom prst="rect">
            <a:avLst/>
          </a:prstGeom>
        </p:spPr>
      </p:pic>
      <p:pic>
        <p:nvPicPr>
          <p:cNvPr id="123" name="frame-icon" descr="preencoded.png">
            <a:extLst>
              <a:ext uri="{FF2B5EF4-FFF2-40B4-BE49-F238E27FC236}">
                <a16:creationId xmlns:a16="http://schemas.microsoft.com/office/drawing/2014/main" id="{4AB54335-3E58-4485-8F6A-5F56DBB653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11150" y="15170072"/>
            <a:ext cx="1017024" cy="10170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A7942E-12A9-4657-B917-F11BDECDB0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17309" y="15124621"/>
            <a:ext cx="1285024" cy="1285024"/>
          </a:xfrm>
          <a:prstGeom prst="rect">
            <a:avLst/>
          </a:prstGeom>
        </p:spPr>
      </p:pic>
      <p:pic>
        <p:nvPicPr>
          <p:cNvPr id="125" name="perclos-icon" descr="preencoded.png">
            <a:extLst>
              <a:ext uri="{FF2B5EF4-FFF2-40B4-BE49-F238E27FC236}">
                <a16:creationId xmlns:a16="http://schemas.microsoft.com/office/drawing/2014/main" id="{4E2FBA97-96A2-4530-8900-FB9E78741C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64748" y="15169032"/>
            <a:ext cx="1181066" cy="1181066"/>
          </a:xfrm>
          <a:prstGeom prst="rect">
            <a:avLst/>
          </a:prstGeom>
        </p:spPr>
      </p:pic>
      <p:pic>
        <p:nvPicPr>
          <p:cNvPr id="126" name="alert-icon" descr="preencoded.png">
            <a:extLst>
              <a:ext uri="{FF2B5EF4-FFF2-40B4-BE49-F238E27FC236}">
                <a16:creationId xmlns:a16="http://schemas.microsoft.com/office/drawing/2014/main" id="{7A35DC6E-E408-4051-962C-F8B6D0B9E5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59080" y="15249550"/>
            <a:ext cx="1240004" cy="1240004"/>
          </a:xfrm>
          <a:prstGeom prst="rect">
            <a:avLst/>
          </a:prstGeom>
        </p:spPr>
      </p:pic>
      <p:sp>
        <p:nvSpPr>
          <p:cNvPr id="128" name="camera-text">
            <a:extLst>
              <a:ext uri="{FF2B5EF4-FFF2-40B4-BE49-F238E27FC236}">
                <a16:creationId xmlns:a16="http://schemas.microsoft.com/office/drawing/2014/main" id="{DA54C296-86F5-4FF9-98F3-135A31A79E9E}"/>
              </a:ext>
            </a:extLst>
          </p:cNvPr>
          <p:cNvSpPr/>
          <p:nvPr/>
        </p:nvSpPr>
        <p:spPr>
          <a:xfrm>
            <a:off x="7958334" y="16179967"/>
            <a:ext cx="2269422" cy="1190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/ Video Input</a:t>
            </a:r>
            <a:endParaRPr lang="en-US" sz="2800" b="1" dirty="0"/>
          </a:p>
        </p:txBody>
      </p:sp>
      <p:sp>
        <p:nvSpPr>
          <p:cNvPr id="129" name="camera-text">
            <a:extLst>
              <a:ext uri="{FF2B5EF4-FFF2-40B4-BE49-F238E27FC236}">
                <a16:creationId xmlns:a16="http://schemas.microsoft.com/office/drawing/2014/main" id="{A3600D09-1FC3-487E-9E13-B1873288D396}"/>
              </a:ext>
            </a:extLst>
          </p:cNvPr>
          <p:cNvSpPr/>
          <p:nvPr/>
        </p:nvSpPr>
        <p:spPr>
          <a:xfrm>
            <a:off x="11038032" y="16226895"/>
            <a:ext cx="2269422" cy="1190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Frame</a:t>
            </a:r>
            <a:r>
              <a:rPr lang="en-US" altLang="en-US" sz="28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en-US" sz="28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Processing</a:t>
            </a:r>
            <a:endParaRPr lang="en-US" sz="2800" b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30" name="camera-text">
            <a:extLst>
              <a:ext uri="{FF2B5EF4-FFF2-40B4-BE49-F238E27FC236}">
                <a16:creationId xmlns:a16="http://schemas.microsoft.com/office/drawing/2014/main" id="{3F4A2CD3-A5E8-4BE3-B04D-9371F6403DAC}"/>
              </a:ext>
            </a:extLst>
          </p:cNvPr>
          <p:cNvSpPr/>
          <p:nvPr/>
        </p:nvSpPr>
        <p:spPr>
          <a:xfrm>
            <a:off x="14024172" y="16301452"/>
            <a:ext cx="2269422" cy="1190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en-US" sz="28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YOLO26n Inference</a:t>
            </a:r>
            <a:endParaRPr lang="en-US" sz="2800" b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31" name="camera-text">
            <a:extLst>
              <a:ext uri="{FF2B5EF4-FFF2-40B4-BE49-F238E27FC236}">
                <a16:creationId xmlns:a16="http://schemas.microsoft.com/office/drawing/2014/main" id="{85418D4D-F274-4A50-B05F-FF7753353BA1}"/>
              </a:ext>
            </a:extLst>
          </p:cNvPr>
          <p:cNvSpPr/>
          <p:nvPr/>
        </p:nvSpPr>
        <p:spPr>
          <a:xfrm>
            <a:off x="17020470" y="16272408"/>
            <a:ext cx="2269422" cy="1190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en-US" sz="28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PERCLOS + Micro-events</a:t>
            </a:r>
            <a:endParaRPr lang="en-US" sz="2800" b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32" name="camera-text">
            <a:extLst>
              <a:ext uri="{FF2B5EF4-FFF2-40B4-BE49-F238E27FC236}">
                <a16:creationId xmlns:a16="http://schemas.microsoft.com/office/drawing/2014/main" id="{EDE8D8DD-159A-4E48-AEBA-4469C7E7DA6B}"/>
              </a:ext>
            </a:extLst>
          </p:cNvPr>
          <p:cNvSpPr/>
          <p:nvPr/>
        </p:nvSpPr>
        <p:spPr>
          <a:xfrm>
            <a:off x="20038340" y="16371061"/>
            <a:ext cx="2269422" cy="1190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Font typeface="Arial"/>
              <a:buNone/>
            </a:pPr>
            <a:r>
              <a:rPr lang="en-US" altLang="en-US" sz="28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</a:rPr>
              <a:t>Debounced Alert State</a:t>
            </a:r>
            <a:endParaRPr lang="en-US" sz="2800" b="1" dirty="0">
              <a:solidFill>
                <a:srgbClr val="334155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133" name="system-caption">
            <a:extLst>
              <a:ext uri="{FF2B5EF4-FFF2-40B4-BE49-F238E27FC236}">
                <a16:creationId xmlns:a16="http://schemas.microsoft.com/office/drawing/2014/main" id="{E38E4F7B-DD6B-4024-AB10-4AB340E4ADF5}"/>
              </a:ext>
            </a:extLst>
          </p:cNvPr>
          <p:cNvSpPr/>
          <p:nvPr/>
        </p:nvSpPr>
        <p:spPr>
          <a:xfrm>
            <a:off x="7938385" y="17555806"/>
            <a:ext cx="14499910" cy="154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HUD + audio alert + safety report follow the debounced state machine. Every node, arrow, and label is editable.</a:t>
            </a:r>
            <a:endParaRPr lang="en-US" sz="4000" dirty="0"/>
          </a:p>
        </p:txBody>
      </p:sp>
      <p:sp>
        <p:nvSpPr>
          <p:cNvPr id="138" name="Google Shape;87;p1">
            <a:extLst>
              <a:ext uri="{FF2B5EF4-FFF2-40B4-BE49-F238E27FC236}">
                <a16:creationId xmlns:a16="http://schemas.microsoft.com/office/drawing/2014/main" id="{AFEB9ED7-7198-4F64-860D-C586638B410E}"/>
              </a:ext>
            </a:extLst>
          </p:cNvPr>
          <p:cNvSpPr/>
          <p:nvPr/>
        </p:nvSpPr>
        <p:spPr>
          <a:xfrm>
            <a:off x="274960" y="26529305"/>
            <a:ext cx="7298106" cy="909845"/>
          </a:xfrm>
          <a:prstGeom prst="roundRect">
            <a:avLst>
              <a:gd name="adj" fmla="val 19909"/>
            </a:avLst>
          </a:prstGeom>
          <a:solidFill>
            <a:schemeClr val="accent4">
              <a:lumMod val="75000"/>
            </a:schemeClr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sz="6000" b="1" dirty="0">
                <a:solidFill>
                  <a:schemeClr val="lt1"/>
                </a:solidFill>
              </a:rPr>
              <a:t>Aim of the work </a:t>
            </a:r>
            <a:endParaRPr lang="en-US" sz="1050" dirty="0"/>
          </a:p>
        </p:txBody>
      </p:sp>
      <p:sp>
        <p:nvSpPr>
          <p:cNvPr id="141" name="hero-card">
            <a:extLst>
              <a:ext uri="{FF2B5EF4-FFF2-40B4-BE49-F238E27FC236}">
                <a16:creationId xmlns:a16="http://schemas.microsoft.com/office/drawing/2014/main" id="{3A6BC7C5-A84D-4C21-AE88-6AC5CDEADEF6}"/>
              </a:ext>
            </a:extLst>
          </p:cNvPr>
          <p:cNvSpPr/>
          <p:nvPr/>
        </p:nvSpPr>
        <p:spPr>
          <a:xfrm>
            <a:off x="297840" y="5519942"/>
            <a:ext cx="22415452" cy="8116679"/>
          </a:xfrm>
          <a:prstGeom prst="roundRect">
            <a:avLst>
              <a:gd name="adj" fmla="val 6128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43" name="hero-title">
            <a:extLst>
              <a:ext uri="{FF2B5EF4-FFF2-40B4-BE49-F238E27FC236}">
                <a16:creationId xmlns:a16="http://schemas.microsoft.com/office/drawing/2014/main" id="{B39756D1-40BF-4705-8FE5-4F904AB2EA76}"/>
              </a:ext>
            </a:extLst>
          </p:cNvPr>
          <p:cNvSpPr/>
          <p:nvPr/>
        </p:nvSpPr>
        <p:spPr>
          <a:xfrm>
            <a:off x="536639" y="5804514"/>
            <a:ext cx="8517476" cy="2334594"/>
          </a:xfrm>
          <a:prstGeom prst="rect">
            <a:avLst/>
          </a:prstGeom>
          <a:gradFill flip="none" rotWithShape="1">
            <a:gsLst>
              <a:gs pos="24000">
                <a:schemeClr val="accent1">
                  <a:lumMod val="20000"/>
                  <a:lumOff val="80000"/>
                </a:schemeClr>
              </a:gs>
              <a:gs pos="91000">
                <a:schemeClr val="accent1">
                  <a:lumMod val="40000"/>
                  <a:lumOff val="6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/>
          <a:effectLst>
            <a:softEdge rad="368300"/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800" b="1" dirty="0">
                <a:solidFill>
                  <a:srgbClr val="1D4ED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13800" b="1" dirty="0" err="1">
                <a:solidFill>
                  <a:srgbClr val="102B7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SentryEye</a:t>
            </a:r>
            <a:endParaRPr lang="en-US" sz="6200" b="1" dirty="0">
              <a:solidFill>
                <a:srgbClr val="102B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hero-subtitle">
            <a:extLst>
              <a:ext uri="{FF2B5EF4-FFF2-40B4-BE49-F238E27FC236}">
                <a16:creationId xmlns:a16="http://schemas.microsoft.com/office/drawing/2014/main" id="{C6474ADA-9E14-4557-9AE3-8AACE2D9B70D}"/>
              </a:ext>
            </a:extLst>
          </p:cNvPr>
          <p:cNvSpPr/>
          <p:nvPr/>
        </p:nvSpPr>
        <p:spPr>
          <a:xfrm>
            <a:off x="522265" y="8261100"/>
            <a:ext cx="8778731" cy="133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b="1" dirty="0">
                <a:solidFill>
                  <a:srgbClr val="0F172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AI-BASED DRIVER SAFETY AND ASSISTANCE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hero-tagline">
            <a:extLst>
              <a:ext uri="{FF2B5EF4-FFF2-40B4-BE49-F238E27FC236}">
                <a16:creationId xmlns:a16="http://schemas.microsoft.com/office/drawing/2014/main" id="{0A92CB49-A775-405E-9C71-5EEDB09538E8}"/>
              </a:ext>
            </a:extLst>
          </p:cNvPr>
          <p:cNvSpPr/>
          <p:nvPr/>
        </p:nvSpPr>
        <p:spPr>
          <a:xfrm>
            <a:off x="589944" y="9569290"/>
            <a:ext cx="8789998" cy="1016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i="1" dirty="0">
                <a:solidFill>
                  <a:srgbClr val="1D4ED8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REAL-TIME DROWSINESS DETECTION. </a:t>
            </a:r>
            <a:endParaRPr lang="ar-EG" altLang="en-US" sz="2800" b="1" i="1" dirty="0">
              <a:solidFill>
                <a:srgbClr val="1D4ED8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altLang="en-US" sz="2800" b="1" i="1" dirty="0">
                <a:solidFill>
                  <a:srgbClr val="1D4ED8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SMARTER ALERTS. SAFER ROADS.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hero-body">
            <a:extLst>
              <a:ext uri="{FF2B5EF4-FFF2-40B4-BE49-F238E27FC236}">
                <a16:creationId xmlns:a16="http://schemas.microsoft.com/office/drawing/2014/main" id="{DE229FA4-8CF6-4ED1-AD02-28ED3AADF84B}"/>
              </a:ext>
            </a:extLst>
          </p:cNvPr>
          <p:cNvSpPr/>
          <p:nvPr/>
        </p:nvSpPr>
        <p:spPr>
          <a:xfrm>
            <a:off x="522265" y="10735437"/>
            <a:ext cx="8737711" cy="2375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en-US" sz="4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fully on-device, browser-native AI system that detects driver fatigue through eye closure, yawning, PERCLOS, and micro-event analysis.</a:t>
            </a:r>
            <a:endParaRPr lang="en-US" sz="4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6656009-F3FE-4D33-82C0-5B8FBD5AB9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9762" y="5863804"/>
            <a:ext cx="12930465" cy="72053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8" name="Google Shape;87;p1">
            <a:extLst>
              <a:ext uri="{FF2B5EF4-FFF2-40B4-BE49-F238E27FC236}">
                <a16:creationId xmlns:a16="http://schemas.microsoft.com/office/drawing/2014/main" id="{E760F526-39A8-46C0-BA1D-2FC4F9290892}"/>
              </a:ext>
            </a:extLst>
          </p:cNvPr>
          <p:cNvSpPr/>
          <p:nvPr/>
        </p:nvSpPr>
        <p:spPr>
          <a:xfrm>
            <a:off x="23100610" y="13649004"/>
            <a:ext cx="7258834" cy="909845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sz="6000" b="1" dirty="0">
                <a:solidFill>
                  <a:schemeClr val="lt1"/>
                </a:solidFill>
              </a:rPr>
              <a:t>QR CODE</a:t>
            </a:r>
            <a:endParaRPr lang="en-US" sz="1050" dirty="0"/>
          </a:p>
        </p:txBody>
      </p:sp>
      <p:sp>
        <p:nvSpPr>
          <p:cNvPr id="150" name="Google Shape;87;p1">
            <a:extLst>
              <a:ext uri="{FF2B5EF4-FFF2-40B4-BE49-F238E27FC236}">
                <a16:creationId xmlns:a16="http://schemas.microsoft.com/office/drawing/2014/main" id="{6FE57F52-8DA4-4CBC-8565-EBE8828D0403}"/>
              </a:ext>
            </a:extLst>
          </p:cNvPr>
          <p:cNvSpPr/>
          <p:nvPr/>
        </p:nvSpPr>
        <p:spPr>
          <a:xfrm>
            <a:off x="23159644" y="19405052"/>
            <a:ext cx="7258834" cy="909845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sz="6000" b="1" dirty="0">
                <a:solidFill>
                  <a:schemeClr val="lt1"/>
                </a:solidFill>
              </a:rPr>
              <a:t>Conclusion</a:t>
            </a:r>
            <a:endParaRPr lang="en-US" sz="1050" dirty="0"/>
          </a:p>
        </p:txBody>
      </p:sp>
      <p:sp>
        <p:nvSpPr>
          <p:cNvPr id="154" name="Google Shape;87;p1">
            <a:extLst>
              <a:ext uri="{FF2B5EF4-FFF2-40B4-BE49-F238E27FC236}">
                <a16:creationId xmlns:a16="http://schemas.microsoft.com/office/drawing/2014/main" id="{B0BF7754-791C-404B-BC56-00DCAF442160}"/>
              </a:ext>
            </a:extLst>
          </p:cNvPr>
          <p:cNvSpPr/>
          <p:nvPr/>
        </p:nvSpPr>
        <p:spPr>
          <a:xfrm>
            <a:off x="7752846" y="13710347"/>
            <a:ext cx="15034821" cy="948582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marL="381475" lvl="1" algn="ctr">
              <a:buSzPts val="6600"/>
            </a:pPr>
            <a:r>
              <a:rPr lang="en-US" sz="5506" b="1" dirty="0">
                <a:solidFill>
                  <a:schemeClr val="lt1"/>
                </a:solidFill>
              </a:rPr>
              <a:t>SYSTEM OVERVIEW</a:t>
            </a:r>
            <a:endParaRPr lang="en-US" sz="984" dirty="0"/>
          </a:p>
        </p:txBody>
      </p:sp>
      <p:sp>
        <p:nvSpPr>
          <p:cNvPr id="158" name="Google Shape;87;p1">
            <a:extLst>
              <a:ext uri="{FF2B5EF4-FFF2-40B4-BE49-F238E27FC236}">
                <a16:creationId xmlns:a16="http://schemas.microsoft.com/office/drawing/2014/main" id="{5E728423-EB31-45C7-A091-51FBA3FA5293}"/>
              </a:ext>
            </a:extLst>
          </p:cNvPr>
          <p:cNvSpPr/>
          <p:nvPr/>
        </p:nvSpPr>
        <p:spPr>
          <a:xfrm>
            <a:off x="7815621" y="19358305"/>
            <a:ext cx="14942903" cy="877048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marL="381475" lvl="1" indent="0" algn="ctr">
              <a:buSzPts val="6600"/>
              <a:buFont typeface="Arial"/>
              <a:buNone/>
            </a:pPr>
            <a:r>
              <a:rPr lang="en-US" altLang="en-US" sz="5506" b="1" dirty="0">
                <a:solidFill>
                  <a:schemeClr val="lt1"/>
                </a:solidFill>
              </a:rPr>
              <a:t>METHODOLOGY</a:t>
            </a:r>
            <a:endParaRPr lang="en-US" sz="5506" b="1" dirty="0">
              <a:solidFill>
                <a:schemeClr val="lt1"/>
              </a:solidFill>
            </a:endParaRPr>
          </a:p>
        </p:txBody>
      </p:sp>
      <p:pic>
        <p:nvPicPr>
          <p:cNvPr id="161" name="dataset-icon" descr="preencoded.png">
            <a:extLst>
              <a:ext uri="{FF2B5EF4-FFF2-40B4-BE49-F238E27FC236}">
                <a16:creationId xmlns:a16="http://schemas.microsoft.com/office/drawing/2014/main" id="{8634331F-C2BF-4D6A-99BD-7518362D99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8218243" y="21663625"/>
            <a:ext cx="1268452" cy="1268452"/>
          </a:xfrm>
          <a:prstGeom prst="rect">
            <a:avLst/>
          </a:prstGeom>
        </p:spPr>
      </p:pic>
      <p:pic>
        <p:nvPicPr>
          <p:cNvPr id="162" name="cleaning-icon" descr="preencoded.png">
            <a:extLst>
              <a:ext uri="{FF2B5EF4-FFF2-40B4-BE49-F238E27FC236}">
                <a16:creationId xmlns:a16="http://schemas.microsoft.com/office/drawing/2014/main" id="{CA26BD37-D8BE-406B-8884-286FDACB86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10139567" y="21620920"/>
            <a:ext cx="1124496" cy="1124496"/>
          </a:xfrm>
          <a:prstGeom prst="rect">
            <a:avLst/>
          </a:prstGeom>
        </p:spPr>
      </p:pic>
      <p:pic>
        <p:nvPicPr>
          <p:cNvPr id="163" name="model-icon" descr="preencoded.png">
            <a:extLst>
              <a:ext uri="{FF2B5EF4-FFF2-40B4-BE49-F238E27FC236}">
                <a16:creationId xmlns:a16="http://schemas.microsoft.com/office/drawing/2014/main" id="{697B992E-1523-4D55-B450-92D35CCE651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flipH="1">
            <a:off x="12009950" y="21681863"/>
            <a:ext cx="1124496" cy="1124496"/>
          </a:xfrm>
          <a:prstGeom prst="rect">
            <a:avLst/>
          </a:prstGeom>
        </p:spPr>
      </p:pic>
      <p:pic>
        <p:nvPicPr>
          <p:cNvPr id="164" name="evaluate-icon" descr="preencoded.png">
            <a:extLst>
              <a:ext uri="{FF2B5EF4-FFF2-40B4-BE49-F238E27FC236}">
                <a16:creationId xmlns:a16="http://schemas.microsoft.com/office/drawing/2014/main" id="{37EC1E1E-3FB4-4838-B6E9-9C438F7F9E1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14107005" y="21555720"/>
            <a:ext cx="1230719" cy="1230719"/>
          </a:xfrm>
          <a:prstGeom prst="rect">
            <a:avLst/>
          </a:prstGeom>
        </p:spPr>
      </p:pic>
      <p:sp>
        <p:nvSpPr>
          <p:cNvPr id="165" name="method-step-one">
            <a:extLst>
              <a:ext uri="{FF2B5EF4-FFF2-40B4-BE49-F238E27FC236}">
                <a16:creationId xmlns:a16="http://schemas.microsoft.com/office/drawing/2014/main" id="{E93F7FBF-73FD-48C1-85B7-C2517C45C0C3}"/>
              </a:ext>
            </a:extLst>
          </p:cNvPr>
          <p:cNvSpPr/>
          <p:nvPr/>
        </p:nvSpPr>
        <p:spPr>
          <a:xfrm>
            <a:off x="7752847" y="20685460"/>
            <a:ext cx="7811003" cy="99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en-US" sz="2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Dataset </a:t>
            </a:r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Construction</a:t>
            </a:r>
            <a:r>
              <a:rPr lang="en-US" altLang="en-US" sz="2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Data </a:t>
            </a:r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</a:t>
            </a:r>
            <a:endParaRPr lang="ar-EG" altLang="en-US" sz="2800" b="1" dirty="0">
              <a:solidFill>
                <a:srgbClr val="1D4ED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ctr"/>
            <a:r>
              <a:rPr lang="en-US" altLang="en-US" sz="2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Label </a:t>
            </a:r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</a:t>
            </a:r>
            <a:endParaRPr lang="en-US" sz="2800" b="1" dirty="0"/>
          </a:p>
        </p:txBody>
      </p:sp>
      <p:sp>
        <p:nvSpPr>
          <p:cNvPr id="166" name="method-line-one">
            <a:extLst>
              <a:ext uri="{FF2B5EF4-FFF2-40B4-BE49-F238E27FC236}">
                <a16:creationId xmlns:a16="http://schemas.microsoft.com/office/drawing/2014/main" id="{2F01B50B-6934-40F7-B647-1926EED54ADB}"/>
              </a:ext>
            </a:extLst>
          </p:cNvPr>
          <p:cNvSpPr/>
          <p:nvPr/>
        </p:nvSpPr>
        <p:spPr>
          <a:xfrm>
            <a:off x="15775140" y="20846265"/>
            <a:ext cx="37030" cy="3637432"/>
          </a:xfrm>
          <a:prstGeom prst="line">
            <a:avLst/>
          </a:prstGeom>
          <a:ln w="381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7" name="method-line-one">
            <a:extLst>
              <a:ext uri="{FF2B5EF4-FFF2-40B4-BE49-F238E27FC236}">
                <a16:creationId xmlns:a16="http://schemas.microsoft.com/office/drawing/2014/main" id="{0F3D7EE7-8130-485A-BBE3-DE4E436CA01A}"/>
              </a:ext>
            </a:extLst>
          </p:cNvPr>
          <p:cNvSpPr/>
          <p:nvPr/>
        </p:nvSpPr>
        <p:spPr>
          <a:xfrm>
            <a:off x="16834992" y="21954719"/>
            <a:ext cx="4655073" cy="3614"/>
          </a:xfrm>
          <a:prstGeom prst="line">
            <a:avLst/>
          </a:prstGeom>
          <a:ln w="381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8" name="method-line-one-labels">
            <a:extLst>
              <a:ext uri="{FF2B5EF4-FFF2-40B4-BE49-F238E27FC236}">
                <a16:creationId xmlns:a16="http://schemas.microsoft.com/office/drawing/2014/main" id="{CE8F2DBE-8802-49B2-AC7D-5BA73D059921}"/>
              </a:ext>
            </a:extLst>
          </p:cNvPr>
          <p:cNvSpPr/>
          <p:nvPr/>
        </p:nvSpPr>
        <p:spPr>
          <a:xfrm>
            <a:off x="8372364" y="23265460"/>
            <a:ext cx="6716306" cy="1218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Construction · Data Cleaning &amp; Label Collection · Model Training · Cross-Model Evaluation</a:t>
            </a:r>
            <a:endParaRPr lang="en-US" sz="2400" b="1" dirty="0"/>
          </a:p>
        </p:txBody>
      </p:sp>
      <p:sp>
        <p:nvSpPr>
          <p:cNvPr id="169" name="method-step-two">
            <a:extLst>
              <a:ext uri="{FF2B5EF4-FFF2-40B4-BE49-F238E27FC236}">
                <a16:creationId xmlns:a16="http://schemas.microsoft.com/office/drawing/2014/main" id="{A01A6E2A-3B0B-4E4C-BA30-BA2BB7090057}"/>
              </a:ext>
            </a:extLst>
          </p:cNvPr>
          <p:cNvSpPr/>
          <p:nvPr/>
        </p:nvSpPr>
        <p:spPr>
          <a:xfrm>
            <a:off x="15750880" y="20690956"/>
            <a:ext cx="712627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en-US" altLang="en-US" sz="2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→ </a:t>
            </a:r>
            <a:r>
              <a:rPr lang="en-US" altLang="en-US" sz="2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r>
              <a:rPr lang="ar-EG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2400" b="1" dirty="0">
              <a:solidFill>
                <a:srgbClr val="1D4ED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176" name="selection-icon" descr="preencoded.png">
            <a:extLst>
              <a:ext uri="{FF2B5EF4-FFF2-40B4-BE49-F238E27FC236}">
                <a16:creationId xmlns:a16="http://schemas.microsoft.com/office/drawing/2014/main" id="{CD716887-FEDC-47D0-9511-5BB043903F8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978108" y="21425157"/>
            <a:ext cx="1041063" cy="1041063"/>
          </a:xfrm>
          <a:prstGeom prst="rect">
            <a:avLst/>
          </a:prstGeom>
        </p:spPr>
      </p:pic>
      <p:pic>
        <p:nvPicPr>
          <p:cNvPr id="177" name="onnx-icon" descr="preencoded.png">
            <a:extLst>
              <a:ext uri="{FF2B5EF4-FFF2-40B4-BE49-F238E27FC236}">
                <a16:creationId xmlns:a16="http://schemas.microsoft.com/office/drawing/2014/main" id="{BFAE561D-B923-4EA7-8556-11521DE3A18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194424" y="21425768"/>
            <a:ext cx="1067925" cy="1067925"/>
          </a:xfrm>
          <a:prstGeom prst="rect">
            <a:avLst/>
          </a:prstGeom>
        </p:spPr>
      </p:pic>
      <p:pic>
        <p:nvPicPr>
          <p:cNvPr id="178" name="web-icon" descr="preencoded.png">
            <a:extLst>
              <a:ext uri="{FF2B5EF4-FFF2-40B4-BE49-F238E27FC236}">
                <a16:creationId xmlns:a16="http://schemas.microsoft.com/office/drawing/2014/main" id="{E193E9E8-BE55-4C32-94E3-1E5B35523EC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612516" y="21472389"/>
            <a:ext cx="946597" cy="946597"/>
          </a:xfrm>
          <a:prstGeom prst="rect">
            <a:avLst/>
          </a:prstGeom>
        </p:spPr>
      </p:pic>
      <p:pic>
        <p:nvPicPr>
          <p:cNvPr id="179" name="wave-icon" descr="preencoded.png">
            <a:extLst>
              <a:ext uri="{FF2B5EF4-FFF2-40B4-BE49-F238E27FC236}">
                <a16:creationId xmlns:a16="http://schemas.microsoft.com/office/drawing/2014/main" id="{9509C81E-1689-4E53-A0E6-92E27A19B61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038340" y="21427531"/>
            <a:ext cx="904820" cy="904820"/>
          </a:xfrm>
          <a:prstGeom prst="rect">
            <a:avLst/>
          </a:prstGeom>
        </p:spPr>
      </p:pic>
      <p:pic>
        <p:nvPicPr>
          <p:cNvPr id="180" name="bell-icon" descr="preencoded.png">
            <a:extLst>
              <a:ext uri="{FF2B5EF4-FFF2-40B4-BE49-F238E27FC236}">
                <a16:creationId xmlns:a16="http://schemas.microsoft.com/office/drawing/2014/main" id="{DAD07FA1-D673-40E0-BBAE-0BC1D64ABD4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602710" y="21413217"/>
            <a:ext cx="982969" cy="982969"/>
          </a:xfrm>
          <a:prstGeom prst="rect">
            <a:avLst/>
          </a:prstGeom>
        </p:spPr>
      </p:pic>
      <p:sp>
        <p:nvSpPr>
          <p:cNvPr id="181" name="method-line-two-labels">
            <a:extLst>
              <a:ext uri="{FF2B5EF4-FFF2-40B4-BE49-F238E27FC236}">
                <a16:creationId xmlns:a16="http://schemas.microsoft.com/office/drawing/2014/main" id="{A7A8692F-A97F-4B48-B7DB-15E1E4E6C5AE}"/>
              </a:ext>
            </a:extLst>
          </p:cNvPr>
          <p:cNvSpPr/>
          <p:nvPr/>
        </p:nvSpPr>
        <p:spPr>
          <a:xfrm>
            <a:off x="16023460" y="22606505"/>
            <a:ext cx="6546904" cy="69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Selection · ONNX Export · WebGPU / WASM Deployment · Temporal Fatigue Analysis · Real-Time Alerting</a:t>
            </a:r>
            <a:endParaRPr lang="en-US" sz="1600" b="1" dirty="0"/>
          </a:p>
        </p:txBody>
      </p:sp>
      <p:sp>
        <p:nvSpPr>
          <p:cNvPr id="182" name="method-note">
            <a:extLst>
              <a:ext uri="{FF2B5EF4-FFF2-40B4-BE49-F238E27FC236}">
                <a16:creationId xmlns:a16="http://schemas.microsoft.com/office/drawing/2014/main" id="{EF8FD0E9-FFBE-4CAB-A39A-C09526E6B756}"/>
              </a:ext>
            </a:extLst>
          </p:cNvPr>
          <p:cNvSpPr/>
          <p:nvPr/>
        </p:nvSpPr>
        <p:spPr>
          <a:xfrm>
            <a:off x="16137558" y="23517117"/>
            <a:ext cx="6583936" cy="14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model: YOLO26n at 480px and 960px, exported to ONNX and executed in-browser through WebGPU / WASM.</a:t>
            </a:r>
            <a:endParaRPr lang="en-US" sz="1600" b="1" dirty="0"/>
          </a:p>
          <a:p>
            <a:pPr marL="0" indent="0" algn="l">
              <a:buNone/>
            </a:pPr>
            <a:r>
              <a:rPr lang="en-US" altLang="en-US" sz="16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the replaceable icons are decorative; the shapes, arrows, and text all remain editable</a:t>
            </a:r>
            <a:r>
              <a:rPr lang="en-US" altLang="en-US" sz="18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800" dirty="0"/>
          </a:p>
        </p:txBody>
      </p:sp>
      <p:sp>
        <p:nvSpPr>
          <p:cNvPr id="183" name="Google Shape;87;p1">
            <a:extLst>
              <a:ext uri="{FF2B5EF4-FFF2-40B4-BE49-F238E27FC236}">
                <a16:creationId xmlns:a16="http://schemas.microsoft.com/office/drawing/2014/main" id="{FCEF353B-2C40-4051-BEE9-E5AC4D3CB089}"/>
              </a:ext>
            </a:extLst>
          </p:cNvPr>
          <p:cNvSpPr/>
          <p:nvPr/>
        </p:nvSpPr>
        <p:spPr>
          <a:xfrm>
            <a:off x="23203520" y="24962344"/>
            <a:ext cx="7258834" cy="878855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t" anchorCtr="0">
            <a:noAutofit/>
          </a:bodyPr>
          <a:lstStyle/>
          <a:p>
            <a:pPr algn="ctr">
              <a:buSzPts val="6000"/>
            </a:pPr>
            <a:r>
              <a:rPr lang="en-US" sz="6000" b="1" dirty="0">
                <a:solidFill>
                  <a:schemeClr val="lt1"/>
                </a:solidFill>
              </a:rPr>
              <a:t>DATASET</a:t>
            </a:r>
            <a:endParaRPr lang="en-US" sz="1200" b="1" dirty="0"/>
          </a:p>
          <a:p>
            <a:pPr algn="ctr">
              <a:buSzPts val="6000"/>
            </a:pPr>
            <a:endParaRPr lang="en-US" sz="1050" dirty="0"/>
          </a:p>
        </p:txBody>
      </p:sp>
      <p:sp>
        <p:nvSpPr>
          <p:cNvPr id="124" name="Google Shape;87;p1">
            <a:extLst>
              <a:ext uri="{FF2B5EF4-FFF2-40B4-BE49-F238E27FC236}">
                <a16:creationId xmlns:a16="http://schemas.microsoft.com/office/drawing/2014/main" id="{7FAF9DE6-EC36-4C64-83E9-7829B2615E1E}"/>
              </a:ext>
            </a:extLst>
          </p:cNvPr>
          <p:cNvSpPr/>
          <p:nvPr/>
        </p:nvSpPr>
        <p:spPr>
          <a:xfrm>
            <a:off x="297839" y="31957991"/>
            <a:ext cx="7413079" cy="909845"/>
          </a:xfrm>
          <a:prstGeom prst="roundRect">
            <a:avLst>
              <a:gd name="adj" fmla="val 19909"/>
            </a:avLst>
          </a:prstGeom>
          <a:solidFill>
            <a:srgbClr val="FF0000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altLang="en-US" sz="6000" b="1" dirty="0">
                <a:solidFill>
                  <a:schemeClr val="lt1"/>
                </a:solidFill>
              </a:rPr>
              <a:t>THE PROBLEM</a:t>
            </a:r>
            <a:endParaRPr lang="en-US" sz="6000" b="1" dirty="0">
              <a:solidFill>
                <a:schemeClr val="lt1"/>
              </a:solidFill>
            </a:endParaRPr>
          </a:p>
        </p:txBody>
      </p:sp>
      <p:sp>
        <p:nvSpPr>
          <p:cNvPr id="134" name="hero-card">
            <a:extLst>
              <a:ext uri="{FF2B5EF4-FFF2-40B4-BE49-F238E27FC236}">
                <a16:creationId xmlns:a16="http://schemas.microsoft.com/office/drawing/2014/main" id="{966ED2A6-C50C-4772-BFBD-A32C2B2049C9}"/>
              </a:ext>
            </a:extLst>
          </p:cNvPr>
          <p:cNvSpPr/>
          <p:nvPr/>
        </p:nvSpPr>
        <p:spPr>
          <a:xfrm>
            <a:off x="284632" y="32837447"/>
            <a:ext cx="7372868" cy="4372968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35" name="Google Shape;87;p1">
            <a:extLst>
              <a:ext uri="{FF2B5EF4-FFF2-40B4-BE49-F238E27FC236}">
                <a16:creationId xmlns:a16="http://schemas.microsoft.com/office/drawing/2014/main" id="{C1598D0B-AE06-47F5-B07E-2F02392678C3}"/>
              </a:ext>
            </a:extLst>
          </p:cNvPr>
          <p:cNvSpPr/>
          <p:nvPr/>
        </p:nvSpPr>
        <p:spPr>
          <a:xfrm>
            <a:off x="334952" y="37266602"/>
            <a:ext cx="7322548" cy="909845"/>
          </a:xfrm>
          <a:prstGeom prst="roundRect">
            <a:avLst>
              <a:gd name="adj" fmla="val 19909"/>
            </a:avLst>
          </a:prstGeom>
          <a:solidFill>
            <a:srgbClr val="00B050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r>
              <a:rPr lang="en-US" altLang="en-US" sz="6000" b="1" dirty="0">
                <a:solidFill>
                  <a:schemeClr val="lt1"/>
                </a:solidFill>
              </a:rPr>
              <a:t>OUR</a:t>
            </a:r>
            <a:r>
              <a:rPr lang="en-US" altLang="en-US" sz="6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en-US" sz="6000" b="1" dirty="0">
                <a:solidFill>
                  <a:schemeClr val="lt1"/>
                </a:solidFill>
              </a:rPr>
              <a:t>SOLUTION</a:t>
            </a:r>
            <a:endParaRPr lang="en-US" sz="6000" b="1" dirty="0">
              <a:solidFill>
                <a:schemeClr val="lt1"/>
              </a:solidFill>
            </a:endParaRPr>
          </a:p>
        </p:txBody>
      </p:sp>
      <p:sp>
        <p:nvSpPr>
          <p:cNvPr id="136" name="hero-card">
            <a:extLst>
              <a:ext uri="{FF2B5EF4-FFF2-40B4-BE49-F238E27FC236}">
                <a16:creationId xmlns:a16="http://schemas.microsoft.com/office/drawing/2014/main" id="{485CB69E-32F0-4E08-BF4D-0D83B86DD651}"/>
              </a:ext>
            </a:extLst>
          </p:cNvPr>
          <p:cNvSpPr/>
          <p:nvPr/>
        </p:nvSpPr>
        <p:spPr>
          <a:xfrm>
            <a:off x="255899" y="38325845"/>
            <a:ext cx="7372868" cy="4372968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37" name="Google Shape;87;p1">
            <a:extLst>
              <a:ext uri="{FF2B5EF4-FFF2-40B4-BE49-F238E27FC236}">
                <a16:creationId xmlns:a16="http://schemas.microsoft.com/office/drawing/2014/main" id="{1F870494-FF31-4DB9-B322-8BB8B034A8A1}"/>
              </a:ext>
            </a:extLst>
          </p:cNvPr>
          <p:cNvSpPr/>
          <p:nvPr/>
        </p:nvSpPr>
        <p:spPr>
          <a:xfrm>
            <a:off x="297839" y="42785047"/>
            <a:ext cx="7330928" cy="909845"/>
          </a:xfrm>
          <a:prstGeom prst="roundRect">
            <a:avLst>
              <a:gd name="adj" fmla="val 19909"/>
            </a:avLst>
          </a:prstGeom>
          <a:solidFill>
            <a:srgbClr val="7030A0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altLang="en-US" sz="6000" b="1" dirty="0">
                <a:solidFill>
                  <a:schemeClr val="lt1"/>
                </a:solidFill>
              </a:rPr>
              <a:t>AI MODELS</a:t>
            </a:r>
            <a:endParaRPr lang="en-US" sz="6000" b="1" dirty="0">
              <a:solidFill>
                <a:schemeClr val="lt1"/>
              </a:solidFill>
            </a:endParaRPr>
          </a:p>
        </p:txBody>
      </p:sp>
      <p:sp>
        <p:nvSpPr>
          <p:cNvPr id="155" name="hero-card">
            <a:extLst>
              <a:ext uri="{FF2B5EF4-FFF2-40B4-BE49-F238E27FC236}">
                <a16:creationId xmlns:a16="http://schemas.microsoft.com/office/drawing/2014/main" id="{A6BEA7A8-75AA-4169-B8A8-66E0C5E3EF4C}"/>
              </a:ext>
            </a:extLst>
          </p:cNvPr>
          <p:cNvSpPr/>
          <p:nvPr/>
        </p:nvSpPr>
        <p:spPr>
          <a:xfrm>
            <a:off x="255899" y="43694892"/>
            <a:ext cx="7372868" cy="3773713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70" name="Google Shape;87;p1">
            <a:extLst>
              <a:ext uri="{FF2B5EF4-FFF2-40B4-BE49-F238E27FC236}">
                <a16:creationId xmlns:a16="http://schemas.microsoft.com/office/drawing/2014/main" id="{CFEF41B5-C8CF-4AF4-86D9-D070209B6899}"/>
              </a:ext>
            </a:extLst>
          </p:cNvPr>
          <p:cNvSpPr/>
          <p:nvPr/>
        </p:nvSpPr>
        <p:spPr>
          <a:xfrm>
            <a:off x="23140885" y="35386819"/>
            <a:ext cx="7321469" cy="909845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5800"/>
            </a:pPr>
            <a:r>
              <a:rPr lang="en-US" sz="6000" b="1" dirty="0">
                <a:solidFill>
                  <a:schemeClr val="lt1"/>
                </a:solidFill>
              </a:rPr>
              <a:t>Future Work </a:t>
            </a:r>
            <a:endParaRPr lang="en-US" sz="105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779BDDD-80C6-46A7-9351-E474808BDF96}"/>
              </a:ext>
            </a:extLst>
          </p:cNvPr>
          <p:cNvSpPr txBox="1"/>
          <p:nvPr/>
        </p:nvSpPr>
        <p:spPr>
          <a:xfrm>
            <a:off x="284632" y="33148483"/>
            <a:ext cx="71711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Driver fatigue is a leading cause of road traffic collisions. Prolonged eye closure and yawning are visible warning signs — but existing detection datasets are too fragmented and inconsistently annotated to build a reliable detector directly.</a:t>
            </a:r>
            <a:endParaRPr lang="en-US" sz="36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65EAD35-BBEC-4332-A8E9-ADE541AC40D3}"/>
              </a:ext>
            </a:extLst>
          </p:cNvPr>
          <p:cNvSpPr txBox="1"/>
          <p:nvPr/>
        </p:nvSpPr>
        <p:spPr>
          <a:xfrm>
            <a:off x="401912" y="38335690"/>
            <a:ext cx="71711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i="1" dirty="0" err="1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SentryEye</a:t>
            </a:r>
            <a:r>
              <a:rPr lang="en-US" altLang="en-US" sz="36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detects three visual states per frame — closed eye, open eye, yawning — then aggregates them into a rolling PERCLOS score and a debounced SAFE / WARNING / CRITICAL alert, so a single misdetection never triggers a false alarm.</a:t>
            </a:r>
            <a:endParaRPr lang="en-US" sz="36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758A557-6638-4D9F-A1D7-11EB2736CBB3}"/>
              </a:ext>
            </a:extLst>
          </p:cNvPr>
          <p:cNvSpPr txBox="1"/>
          <p:nvPr/>
        </p:nvSpPr>
        <p:spPr>
          <a:xfrm>
            <a:off x="401912" y="43741967"/>
            <a:ext cx="717115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4 architecture families compared under one protocol:</a:t>
            </a:r>
            <a:endParaRPr lang="en-US" sz="28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r>
              <a:rPr lang="en-US" altLang="en-US" sz="28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YOLO26 (n / s) · YOLOv11 (n / m) · RF-DETR (Nano / Small) · Faster R-CNN (custom)</a:t>
            </a:r>
            <a:endParaRPr lang="en-US" sz="28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r>
              <a:rPr lang="en-US" altLang="en-US" sz="28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21 trained configurations</a:t>
            </a:r>
            <a:endParaRPr lang="en-US" sz="28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r>
              <a:rPr lang="en-US" altLang="en-US" sz="28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950 epochs · 277.6 GPU-hours (RTX 2000 Ada)</a:t>
            </a:r>
            <a:endParaRPr lang="en-US" sz="28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r>
              <a:rPr lang="en-US" altLang="en-US" sz="28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Production model: YOLO26n – 480px &amp; 960px + ONNX + </a:t>
            </a:r>
            <a:r>
              <a:rPr lang="en-US" altLang="en-US" sz="2800" i="1" dirty="0" err="1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WebGPU</a:t>
            </a:r>
            <a:r>
              <a:rPr lang="en-US" altLang="en-US" sz="2800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/ WASM</a:t>
            </a:r>
            <a:endParaRPr lang="en-US" sz="2800" i="1" dirty="0">
              <a:solidFill>
                <a:srgbClr val="334155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4" name="hero-card">
            <a:extLst>
              <a:ext uri="{FF2B5EF4-FFF2-40B4-BE49-F238E27FC236}">
                <a16:creationId xmlns:a16="http://schemas.microsoft.com/office/drawing/2014/main" id="{443E6564-4338-4E4C-A5B5-099F0AF37FD9}"/>
              </a:ext>
            </a:extLst>
          </p:cNvPr>
          <p:cNvSpPr/>
          <p:nvPr/>
        </p:nvSpPr>
        <p:spPr>
          <a:xfrm>
            <a:off x="23207386" y="36342806"/>
            <a:ext cx="7372868" cy="2973149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E7B0001-5A68-43DC-81FA-FB9426E7DC3E}"/>
              </a:ext>
            </a:extLst>
          </p:cNvPr>
          <p:cNvSpPr txBox="1"/>
          <p:nvPr/>
        </p:nvSpPr>
        <p:spPr>
          <a:xfrm>
            <a:off x="23352375" y="36552420"/>
            <a:ext cx="702688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"/>
              </a:spcBef>
              <a:buSzPct val="100000"/>
              <a:buChar char="✓"/>
            </a:pP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Learned temporal modeling (RNN / LSTM) for blink &amp; yawn duration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0"/>
              </a:spcBef>
              <a:buSzPct val="100000"/>
              <a:buChar char="✓"/>
            </a:pP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Multi-task learning — facial landmarks + gaze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0"/>
              </a:spcBef>
              <a:buSzPct val="100000"/>
              <a:buChar char="✓"/>
            </a:pPr>
            <a:r>
              <a:rPr lang="en-US" altLang="en-US" sz="36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Multi-camera</a:t>
            </a: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support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0"/>
              </a:spcBef>
              <a:buSzPct val="100000"/>
              <a:buChar char="✓"/>
            </a:pP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Context-aware driver personalization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Google Shape;87;p1">
            <a:extLst>
              <a:ext uri="{FF2B5EF4-FFF2-40B4-BE49-F238E27FC236}">
                <a16:creationId xmlns:a16="http://schemas.microsoft.com/office/drawing/2014/main" id="{3C104360-6879-4101-8D07-DF3692B5FDCC}"/>
              </a:ext>
            </a:extLst>
          </p:cNvPr>
          <p:cNvSpPr/>
          <p:nvPr/>
        </p:nvSpPr>
        <p:spPr>
          <a:xfrm>
            <a:off x="23159418" y="42785047"/>
            <a:ext cx="7330928" cy="909845"/>
          </a:xfrm>
          <a:prstGeom prst="roundRect">
            <a:avLst>
              <a:gd name="adj" fmla="val 19909"/>
            </a:avLst>
          </a:prstGeom>
          <a:solidFill>
            <a:srgbClr val="7030A0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sz="6000" b="1" dirty="0">
                <a:solidFill>
                  <a:schemeClr val="lt1"/>
                </a:solidFill>
              </a:rPr>
              <a:t>USED TOOLS</a:t>
            </a:r>
            <a:endParaRPr lang="en-US" sz="1050" dirty="0"/>
          </a:p>
        </p:txBody>
      </p:sp>
      <p:sp>
        <p:nvSpPr>
          <p:cNvPr id="187" name="Google Shape;87;p1">
            <a:extLst>
              <a:ext uri="{FF2B5EF4-FFF2-40B4-BE49-F238E27FC236}">
                <a16:creationId xmlns:a16="http://schemas.microsoft.com/office/drawing/2014/main" id="{B28F6AF7-251A-4668-AD8D-9DD27E73E28D}"/>
              </a:ext>
            </a:extLst>
          </p:cNvPr>
          <p:cNvSpPr/>
          <p:nvPr/>
        </p:nvSpPr>
        <p:spPr>
          <a:xfrm>
            <a:off x="23204220" y="39352368"/>
            <a:ext cx="7321469" cy="909845"/>
          </a:xfrm>
          <a:prstGeom prst="roundRect">
            <a:avLst>
              <a:gd name="adj" fmla="val 19909"/>
            </a:avLst>
          </a:prstGeom>
          <a:solidFill>
            <a:srgbClr val="1D4E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marL="0" indent="0" algn="ctr">
              <a:buSzPts val="5800"/>
              <a:buFont typeface="Arial"/>
              <a:buNone/>
            </a:pPr>
            <a:r>
              <a:rPr lang="en-US" altLang="en-US" sz="5400" b="1" dirty="0">
                <a:solidFill>
                  <a:schemeClr val="lt1"/>
                </a:solidFill>
              </a:rPr>
              <a:t>KEY FEATURES</a:t>
            </a:r>
            <a:endParaRPr lang="en-US" sz="5400" b="1" dirty="0">
              <a:solidFill>
                <a:schemeClr val="lt1"/>
              </a:solidFill>
            </a:endParaRPr>
          </a:p>
        </p:txBody>
      </p:sp>
      <p:sp>
        <p:nvSpPr>
          <p:cNvPr id="189" name="hero-card">
            <a:extLst>
              <a:ext uri="{FF2B5EF4-FFF2-40B4-BE49-F238E27FC236}">
                <a16:creationId xmlns:a16="http://schemas.microsoft.com/office/drawing/2014/main" id="{78F3B054-891B-42A9-9E4B-FE69DB2DF459}"/>
              </a:ext>
            </a:extLst>
          </p:cNvPr>
          <p:cNvSpPr/>
          <p:nvPr/>
        </p:nvSpPr>
        <p:spPr>
          <a:xfrm>
            <a:off x="23299211" y="40304800"/>
            <a:ext cx="7200042" cy="2250598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01A2DEA-1383-464A-A725-09A7AB0201F9}"/>
              </a:ext>
            </a:extLst>
          </p:cNvPr>
          <p:cNvSpPr txBox="1"/>
          <p:nvPr/>
        </p:nvSpPr>
        <p:spPr>
          <a:xfrm>
            <a:off x="23444200" y="40514413"/>
            <a:ext cx="68621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"/>
              </a:spcBef>
              <a:buSzPct val="100000"/>
            </a:pPr>
            <a:r>
              <a:rPr lang="ar-EG" sz="2400" b="1" dirty="0"/>
              <a:t> </a:t>
            </a:r>
            <a:r>
              <a:rPr lang="en-US" sz="2800" b="1" u="sng" dirty="0"/>
              <a:t>Offline-capable</a:t>
            </a:r>
            <a:r>
              <a:rPr lang="en-US" sz="2400" dirty="0"/>
              <a:t> — works fully in-browser without needing constant internet connection</a:t>
            </a:r>
            <a:endParaRPr lang="ar-EG" sz="2400" dirty="0"/>
          </a:p>
          <a:p>
            <a:pPr>
              <a:spcBef>
                <a:spcPts val="10"/>
              </a:spcBef>
              <a:buSzPct val="100000"/>
            </a:pPr>
            <a:r>
              <a:rPr lang="ar-EG" sz="2400" b="1" dirty="0"/>
              <a:t> </a:t>
            </a:r>
            <a:r>
              <a:rPr lang="en-US" sz="2800" b="1" u="sng" dirty="0"/>
              <a:t>Lightweight, on-device deployment</a:t>
            </a:r>
            <a:r>
              <a:rPr lang="en-US" sz="2400" u="sng" dirty="0"/>
              <a:t> </a:t>
            </a:r>
            <a:r>
              <a:rPr lang="en-US" sz="2400" dirty="0"/>
              <a:t>— YOLO11n model compressed below 10MB, runs via </a:t>
            </a:r>
            <a:r>
              <a:rPr lang="en-US" sz="2400" dirty="0" err="1"/>
              <a:t>WebGPU</a:t>
            </a:r>
            <a:r>
              <a:rPr lang="en-US" sz="2400" dirty="0"/>
              <a:t> with no server dependency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4D26D7C-C8B9-437C-8E1F-D13A026BEAAF}"/>
              </a:ext>
            </a:extLst>
          </p:cNvPr>
          <p:cNvSpPr txBox="1"/>
          <p:nvPr/>
        </p:nvSpPr>
        <p:spPr>
          <a:xfrm>
            <a:off x="23106650" y="30996116"/>
            <a:ext cx="720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"/>
              </a:spcBef>
              <a:buSzPct val="100000"/>
            </a:pP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2608A69-E539-4CE5-851E-CA4860FCD2B0}"/>
              </a:ext>
            </a:extLst>
          </p:cNvPr>
          <p:cNvSpPr txBox="1"/>
          <p:nvPr/>
        </p:nvSpPr>
        <p:spPr>
          <a:xfrm>
            <a:off x="23135686" y="31529876"/>
            <a:ext cx="720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"/>
              </a:spcBef>
              <a:buSzPct val="100000"/>
            </a:pP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F7A2C94-7CC9-4B83-AC6F-678447837784}"/>
              </a:ext>
            </a:extLst>
          </p:cNvPr>
          <p:cNvSpPr txBox="1"/>
          <p:nvPr/>
        </p:nvSpPr>
        <p:spPr>
          <a:xfrm>
            <a:off x="23116994" y="32044748"/>
            <a:ext cx="720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"/>
              </a:spcBef>
              <a:buSzPct val="100000"/>
            </a:pPr>
            <a:r>
              <a:rPr lang="en-US" altLang="en-US" sz="2800" b="1" i="1" dirty="0">
                <a:solidFill>
                  <a:srgbClr val="334155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✅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8FCA06-C044-48C5-AD25-4AF4E7A01C2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44333" y="26237709"/>
            <a:ext cx="14293962" cy="8851899"/>
          </a:xfrm>
          <a:prstGeom prst="rect">
            <a:avLst/>
          </a:prstGeom>
          <a:effectLst>
            <a:softEdge rad="0"/>
          </a:effectLst>
        </p:spPr>
      </p:pic>
      <p:sp>
        <p:nvSpPr>
          <p:cNvPr id="194" name="Google Shape;87;p1">
            <a:extLst>
              <a:ext uri="{FF2B5EF4-FFF2-40B4-BE49-F238E27FC236}">
                <a16:creationId xmlns:a16="http://schemas.microsoft.com/office/drawing/2014/main" id="{352A2AC0-A5D0-4AE7-933D-8446D238E02F}"/>
              </a:ext>
            </a:extLst>
          </p:cNvPr>
          <p:cNvSpPr/>
          <p:nvPr/>
        </p:nvSpPr>
        <p:spPr>
          <a:xfrm>
            <a:off x="7879794" y="24931354"/>
            <a:ext cx="14907873" cy="909845"/>
          </a:xfrm>
          <a:prstGeom prst="roundRect">
            <a:avLst>
              <a:gd name="adj" fmla="val 19909"/>
            </a:avLst>
          </a:prstGeom>
          <a:solidFill>
            <a:srgbClr val="0B150F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en-US" sz="6000" b="1" dirty="0">
                <a:solidFill>
                  <a:schemeClr val="lt1"/>
                </a:solidFill>
              </a:rPr>
              <a:t>Our Platform 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4B5BAE-0C84-42F1-8BB0-48BC457FE9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6255" y="33003053"/>
            <a:ext cx="2028444" cy="2028444"/>
          </a:xfrm>
          <a:prstGeom prst="rect">
            <a:avLst/>
          </a:prstGeom>
        </p:spPr>
      </p:pic>
      <p:sp>
        <p:nvSpPr>
          <p:cNvPr id="196" name="Google Shape;87;p1">
            <a:extLst>
              <a:ext uri="{FF2B5EF4-FFF2-40B4-BE49-F238E27FC236}">
                <a16:creationId xmlns:a16="http://schemas.microsoft.com/office/drawing/2014/main" id="{0DB92DB7-7B5B-4118-BFAE-C3FDE92F90E6}"/>
              </a:ext>
            </a:extLst>
          </p:cNvPr>
          <p:cNvSpPr/>
          <p:nvPr/>
        </p:nvSpPr>
        <p:spPr>
          <a:xfrm>
            <a:off x="8117380" y="35417521"/>
            <a:ext cx="14907873" cy="909845"/>
          </a:xfrm>
          <a:prstGeom prst="roundRect">
            <a:avLst>
              <a:gd name="adj" fmla="val 19909"/>
            </a:avLst>
          </a:prstGeom>
          <a:solidFill>
            <a:schemeClr val="tx1">
              <a:lumMod val="95000"/>
              <a:lumOff val="5000"/>
            </a:schemeClr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chemeClr val="lt1"/>
                </a:solidFill>
              </a:rPr>
              <a:t>Offline models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6ACA711-2C1D-4686-8433-B80B07C6A8AE}"/>
              </a:ext>
            </a:extLst>
          </p:cNvPr>
          <p:cNvSpPr txBox="1"/>
          <p:nvPr/>
        </p:nvSpPr>
        <p:spPr>
          <a:xfrm>
            <a:off x="8218243" y="36473538"/>
            <a:ext cx="146589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 detection model to device once. Live  and video detection then start instantly and keep working with no internet connection.</a:t>
            </a:r>
          </a:p>
        </p:txBody>
      </p:sp>
      <p:sp>
        <p:nvSpPr>
          <p:cNvPr id="199" name="Google Shape;87;p1">
            <a:extLst>
              <a:ext uri="{FF2B5EF4-FFF2-40B4-BE49-F238E27FC236}">
                <a16:creationId xmlns:a16="http://schemas.microsoft.com/office/drawing/2014/main" id="{7C675E6D-EC72-45E4-8C1A-5638721F7767}"/>
              </a:ext>
            </a:extLst>
          </p:cNvPr>
          <p:cNvSpPr/>
          <p:nvPr/>
        </p:nvSpPr>
        <p:spPr>
          <a:xfrm>
            <a:off x="8061082" y="39362007"/>
            <a:ext cx="14907873" cy="909845"/>
          </a:xfrm>
          <a:prstGeom prst="roundRect">
            <a:avLst>
              <a:gd name="adj" fmla="val 19909"/>
            </a:avLst>
          </a:prstGeom>
          <a:solidFill>
            <a:srgbClr val="FF0000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marL="0" indent="0" algn="ctr">
              <a:buSzPts val="5800"/>
              <a:buFont typeface="Arial"/>
              <a:buNone/>
            </a:pPr>
            <a:r>
              <a:rPr lang="en-US" altLang="en-US" sz="5400" b="1" dirty="0">
                <a:solidFill>
                  <a:schemeClr val="lt1"/>
                </a:solidFill>
              </a:rPr>
              <a:t>The Privacy</a:t>
            </a:r>
            <a:endParaRPr lang="en-US" sz="5400" b="1" dirty="0">
              <a:solidFill>
                <a:schemeClr val="lt1"/>
              </a:solidFill>
            </a:endParaRPr>
          </a:p>
        </p:txBody>
      </p:sp>
      <p:sp>
        <p:nvSpPr>
          <p:cNvPr id="200" name="hero-card">
            <a:extLst>
              <a:ext uri="{FF2B5EF4-FFF2-40B4-BE49-F238E27FC236}">
                <a16:creationId xmlns:a16="http://schemas.microsoft.com/office/drawing/2014/main" id="{49C738C1-6698-4D34-AA25-39058522DD09}"/>
              </a:ext>
            </a:extLst>
          </p:cNvPr>
          <p:cNvSpPr/>
          <p:nvPr/>
        </p:nvSpPr>
        <p:spPr>
          <a:xfrm>
            <a:off x="8096807" y="40342498"/>
            <a:ext cx="4248300" cy="6846531"/>
          </a:xfrm>
          <a:prstGeom prst="roundRect">
            <a:avLst>
              <a:gd name="adj" fmla="val 6128"/>
            </a:avLst>
          </a:prstGeom>
          <a:solidFill>
            <a:srgbClr val="F8FB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203" name="Google Shape;87;p1">
            <a:extLst>
              <a:ext uri="{FF2B5EF4-FFF2-40B4-BE49-F238E27FC236}">
                <a16:creationId xmlns:a16="http://schemas.microsoft.com/office/drawing/2014/main" id="{4D17CEB2-0BF5-4C4D-A6EA-3890087062CC}"/>
              </a:ext>
            </a:extLst>
          </p:cNvPr>
          <p:cNvSpPr/>
          <p:nvPr/>
        </p:nvSpPr>
        <p:spPr>
          <a:xfrm>
            <a:off x="8370511" y="40724501"/>
            <a:ext cx="3837473" cy="681977"/>
          </a:xfrm>
          <a:prstGeom prst="roundRect">
            <a:avLst>
              <a:gd name="adj" fmla="val 19909"/>
            </a:avLst>
          </a:pr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5800"/>
            </a:pPr>
            <a:r>
              <a:rPr lang="en-US" sz="3600" b="1" dirty="0">
                <a:solidFill>
                  <a:schemeClr val="lt1"/>
                </a:solidFill>
              </a:rPr>
              <a:t>Driver Report</a:t>
            </a:r>
          </a:p>
        </p:txBody>
      </p:sp>
      <p:sp>
        <p:nvSpPr>
          <p:cNvPr id="204" name="Google Shape;87;p1">
            <a:extLst>
              <a:ext uri="{FF2B5EF4-FFF2-40B4-BE49-F238E27FC236}">
                <a16:creationId xmlns:a16="http://schemas.microsoft.com/office/drawing/2014/main" id="{BC84BBC2-3D76-42F4-8B7F-E58B78FCAA72}"/>
              </a:ext>
            </a:extLst>
          </p:cNvPr>
          <p:cNvSpPr/>
          <p:nvPr/>
        </p:nvSpPr>
        <p:spPr>
          <a:xfrm>
            <a:off x="18796944" y="40673390"/>
            <a:ext cx="3924550" cy="638098"/>
          </a:xfrm>
          <a:prstGeom prst="roundRect">
            <a:avLst>
              <a:gd name="adj" fmla="val 19909"/>
            </a:avLst>
          </a:prstGeom>
          <a:solidFill>
            <a:schemeClr val="tx1">
              <a:lumMod val="85000"/>
              <a:lumOff val="15000"/>
            </a:schemeClr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5800"/>
            </a:pPr>
            <a:r>
              <a:rPr lang="en-US" sz="4000" b="1" dirty="0">
                <a:solidFill>
                  <a:schemeClr val="lt1"/>
                </a:solidFill>
              </a:rPr>
              <a:t>Manger report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5D30625-7DAB-4FB9-90C1-F0CCD9D6EC87}"/>
              </a:ext>
            </a:extLst>
          </p:cNvPr>
          <p:cNvSpPr txBox="1"/>
          <p:nvPr/>
        </p:nvSpPr>
        <p:spPr>
          <a:xfrm>
            <a:off x="8238689" y="41854952"/>
            <a:ext cx="402932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will only be able to view his reports status so that he can manage his status to avoid getting fired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EC2568F-E219-4A09-900A-2C6562243AC2}"/>
              </a:ext>
            </a:extLst>
          </p:cNvPr>
          <p:cNvSpPr txBox="1"/>
          <p:nvPr/>
        </p:nvSpPr>
        <p:spPr>
          <a:xfrm>
            <a:off x="18873413" y="41878118"/>
            <a:ext cx="400763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Managers can view all drivers' aggregated metrics and multi-month performance histories—without live camera feeds—ensuring privacy and informed decision-making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407506-D60D-4446-9D3F-7C07DFB4526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526502" y="40340810"/>
            <a:ext cx="6074225" cy="71159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069C4B2-9A02-4FE4-B9E3-35EF926937A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6832937" y="45015317"/>
            <a:ext cx="1276756" cy="69984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82A193-3524-48BF-8F87-E1C6F00A2AA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593644" y="43926434"/>
            <a:ext cx="2757647" cy="71012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D549C08-EFC5-4C08-B4E3-1B876EBD3EF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4457977" y="44962327"/>
            <a:ext cx="2111155" cy="78467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FA8CBE7-EC0D-498A-8D1C-7FDAA33059B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152595" y="45270859"/>
            <a:ext cx="1276756" cy="148674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E807D59-48B6-43C9-A0B6-28F68564C3B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604261" y="45808673"/>
            <a:ext cx="1971950" cy="120984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D770D5F-9515-4B18-BD9B-00C6FBB814B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569132" y="44010635"/>
            <a:ext cx="914608" cy="86080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BA62F9A-F61B-4591-92A6-3CC7DB5042C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673208" y="45650338"/>
            <a:ext cx="1723085" cy="136576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2CC991A-556C-43E1-AE1E-F792A0FDDE9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8406546" y="44688935"/>
            <a:ext cx="1952898" cy="53347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610CBA3-5715-40FE-81ED-A6990832CE3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6579337" y="45839497"/>
            <a:ext cx="1990227" cy="118436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9BB6FB5-4201-479B-B352-487C7504C1E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4988008" y="44140893"/>
            <a:ext cx="1312568" cy="52387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7900670-E5D1-4F78-9DEE-E2F55BFFAB5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626933" y="45163964"/>
            <a:ext cx="1082563" cy="5448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712</Words>
  <Application>Microsoft Office PowerPoint</Application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New Roman</vt:lpstr>
      <vt:lpstr>Roboto</vt:lpstr>
      <vt:lpstr>Inter</vt:lpstr>
      <vt:lpstr>Arial</vt:lpstr>
      <vt:lpstr>Titillium Web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</dc:creator>
  <cp:lastModifiedBy>Mohamed Mostafa mohamed elbasyouni</cp:lastModifiedBy>
  <cp:revision>63</cp:revision>
  <dcterms:created xsi:type="dcterms:W3CDTF">2012-07-09T21:51:14Z</dcterms:created>
  <dcterms:modified xsi:type="dcterms:W3CDTF">2026-08-26T16:09:26Z</dcterms:modified>
</cp:coreProperties>
</file>